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</p:sldMasterIdLst>
  <p:notesMasterIdLst>
    <p:notesMasterId r:id="rId9"/>
  </p:notesMasterIdLst>
  <p:handoutMasterIdLst>
    <p:handoutMasterId r:id="rId10"/>
  </p:handoutMasterIdLst>
  <p:sldIdLst>
    <p:sldId id="294" r:id="rId4"/>
    <p:sldId id="268" r:id="rId5"/>
    <p:sldId id="257" r:id="rId6"/>
    <p:sldId id="292" r:id="rId7"/>
    <p:sldId id="258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9DA3"/>
    <a:srgbClr val="65C2C5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48" autoAdjust="0"/>
    <p:restoredTop sz="94660"/>
  </p:normalViewPr>
  <p:slideViewPr>
    <p:cSldViewPr showGuides="1">
      <p:cViewPr varScale="1">
        <p:scale>
          <a:sx n="110" d="100"/>
          <a:sy n="110" d="100"/>
        </p:scale>
        <p:origin x="710" y="67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83" d="100"/>
          <a:sy n="83" d="100"/>
        </p:scale>
        <p:origin x="-319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‹Nr.›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‹Nr.›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2681" y="105782"/>
            <a:ext cx="477240" cy="710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pic>
        <p:nvPicPr>
          <p:cNvPr id="8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020" y="3332174"/>
            <a:ext cx="1087451" cy="16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/>
          <p:cNvCxnSpPr/>
          <p:nvPr userDrawn="1"/>
        </p:nvCxnSpPr>
        <p:spPr>
          <a:xfrm>
            <a:off x="711746" y="4952174"/>
            <a:ext cx="84322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chemeClr val="accent2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chemeClr val="accent3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chemeClr val="accent2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chemeClr val="accent3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2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2681" y="105782"/>
            <a:ext cx="477240" cy="710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8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2681" y="105782"/>
            <a:ext cx="477240" cy="710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3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2681" y="105782"/>
            <a:ext cx="477240" cy="710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2000" y="0"/>
            <a:ext cx="2160240" cy="120359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7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2681" y="105782"/>
            <a:ext cx="477240" cy="710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41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2681" y="105782"/>
            <a:ext cx="477240" cy="710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Straight Arrow Connector 8"/>
          <p:cNvCxnSpPr>
            <a:stCxn id="7" idx="2"/>
          </p:cNvCxnSpPr>
          <p:nvPr userDrawn="1"/>
        </p:nvCxnSpPr>
        <p:spPr>
          <a:xfrm>
            <a:off x="711746" y="4952174"/>
            <a:ext cx="84322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baseline="0">
                <a:solidFill>
                  <a:schemeClr val="bg1"/>
                </a:solidFill>
                <a:effectLst/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aseline="0">
                <a:solidFill>
                  <a:schemeClr val="bg1"/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pic>
        <p:nvPicPr>
          <p:cNvPr id="7" name="Picture 2" descr="D:\KBM-정애\014-Fullppt\PNG이미지\paper-bulb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020" y="3332174"/>
            <a:ext cx="1087451" cy="16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31840" y="2355726"/>
            <a:ext cx="5472608" cy="399981"/>
          </a:xfrm>
        </p:spPr>
        <p:txBody>
          <a:bodyPr/>
          <a:lstStyle/>
          <a:p>
            <a:r>
              <a:rPr lang="en-US" altLang="ko-KR" sz="3200" dirty="0" smtClean="0">
                <a:ea typeface="맑은 고딕" pitchFamily="50" charset="-127"/>
              </a:rPr>
              <a:t>Modern &amp; Personal Communication Solution</a:t>
            </a:r>
            <a:endParaRPr lang="ko-KR" altLang="en-US" sz="3200" dirty="0">
              <a:solidFill>
                <a:schemeClr val="bg1"/>
              </a:solidFill>
              <a:latin typeface="Arial" pitchFamily="34" charset="0"/>
            </a:endParaRP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10" y="195486"/>
            <a:ext cx="3240360" cy="926743"/>
          </a:xfrm>
          <a:prstGeom prst="rect">
            <a:avLst/>
          </a:prstGeom>
        </p:spPr>
      </p:pic>
      <p:sp>
        <p:nvSpPr>
          <p:cNvPr id="7" name="Rechteck 6"/>
          <p:cNvSpPr/>
          <p:nvPr/>
        </p:nvSpPr>
        <p:spPr>
          <a:xfrm>
            <a:off x="2987824" y="3147814"/>
            <a:ext cx="6048672" cy="50405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i="1" dirty="0" smtClean="0"/>
              <a:t>      No message left behind </a:t>
            </a:r>
            <a:endParaRPr lang="de-CH" b="1" i="1" dirty="0"/>
          </a:p>
        </p:txBody>
      </p:sp>
    </p:spTree>
    <p:extLst>
      <p:ext uri="{BB962C8B-B14F-4D97-AF65-F5344CB8AC3E}">
        <p14:creationId xmlns:p14="http://schemas.microsoft.com/office/powerpoint/2010/main" val="1231364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val 16"/>
          <p:cNvSpPr/>
          <p:nvPr/>
        </p:nvSpPr>
        <p:spPr>
          <a:xfrm>
            <a:off x="4449688" y="2443031"/>
            <a:ext cx="914400" cy="9144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Oval 17"/>
          <p:cNvSpPr/>
          <p:nvPr/>
        </p:nvSpPr>
        <p:spPr>
          <a:xfrm>
            <a:off x="5878996" y="2443031"/>
            <a:ext cx="914400" cy="9144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Oval 18"/>
          <p:cNvSpPr/>
          <p:nvPr/>
        </p:nvSpPr>
        <p:spPr>
          <a:xfrm>
            <a:off x="7308552" y="2438009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/>
          <p:cNvSpPr txBox="1"/>
          <p:nvPr/>
        </p:nvSpPr>
        <p:spPr>
          <a:xfrm>
            <a:off x="4174232" y="3646049"/>
            <a:ext cx="14653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err="1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Spitex</a:t>
            </a:r>
            <a:r>
              <a:rPr lang="en-US" altLang="ko-KR" sz="1200" b="1" dirty="0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 personnel </a:t>
            </a:r>
            <a:endParaRPr lang="ko-KR" altLang="en-US" sz="1200" b="1" dirty="0">
              <a:solidFill>
                <a:schemeClr val="accent3">
                  <a:lumMod val="75000"/>
                </a:schemeClr>
              </a:solidFill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670122" y="3646049"/>
            <a:ext cx="13321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Family Doctors</a:t>
            </a:r>
            <a:endParaRPr lang="ko-KR" altLang="en-US" sz="1200" b="1" dirty="0">
              <a:solidFill>
                <a:schemeClr val="accent3">
                  <a:lumMod val="75000"/>
                </a:schemeClr>
              </a:solidFill>
              <a:cs typeface="Arial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189440" y="3646049"/>
            <a:ext cx="1415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err="1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Admininstration</a:t>
            </a:r>
            <a:endParaRPr lang="ko-KR" altLang="en-US" sz="1200" b="1" dirty="0">
              <a:solidFill>
                <a:schemeClr val="accent3">
                  <a:lumMod val="75000"/>
                </a:schemeClr>
              </a:solidFill>
              <a:cs typeface="Arial" pitchFamily="34" charset="0"/>
            </a:endParaRPr>
          </a:p>
        </p:txBody>
      </p:sp>
      <p:pic>
        <p:nvPicPr>
          <p:cNvPr id="4" name="Bildplatzhalter 3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99" b="6599"/>
          <a:stretch>
            <a:fillRect/>
          </a:stretch>
        </p:blipFill>
        <p:spPr/>
      </p:pic>
      <p:sp>
        <p:nvSpPr>
          <p:cNvPr id="29" name="Block Arc 20">
            <a:extLst>
              <a:ext uri="{FF2B5EF4-FFF2-40B4-BE49-F238E27FC236}">
                <a16:creationId xmlns:a16="http://schemas.microsoft.com/office/drawing/2014/main" id="{8CDE9899-35C5-4EE2-817E-8D3213647FB0}"/>
              </a:ext>
            </a:extLst>
          </p:cNvPr>
          <p:cNvSpPr>
            <a:spLocks noChangeAspect="1"/>
          </p:cNvSpPr>
          <p:nvPr/>
        </p:nvSpPr>
        <p:spPr>
          <a:xfrm rot="10800000">
            <a:off x="6170191" y="2720231"/>
            <a:ext cx="332010" cy="360000"/>
          </a:xfrm>
          <a:custGeom>
            <a:avLst/>
            <a:gdLst/>
            <a:ahLst/>
            <a:cxnLst/>
            <a:rect l="l" t="t" r="r" b="b"/>
            <a:pathLst>
              <a:path w="2958558" h="3207983">
                <a:moveTo>
                  <a:pt x="376920" y="2960896"/>
                </a:moveTo>
                <a:cubicBezTo>
                  <a:pt x="266613" y="2960896"/>
                  <a:pt x="177192" y="2871475"/>
                  <a:pt x="177192" y="2761168"/>
                </a:cubicBezTo>
                <a:cubicBezTo>
                  <a:pt x="177192" y="2650861"/>
                  <a:pt x="266613" y="2561440"/>
                  <a:pt x="376920" y="2561440"/>
                </a:cubicBezTo>
                <a:cubicBezTo>
                  <a:pt x="487227" y="2561440"/>
                  <a:pt x="576648" y="2650861"/>
                  <a:pt x="576648" y="2761168"/>
                </a:cubicBezTo>
                <a:cubicBezTo>
                  <a:pt x="576648" y="2871475"/>
                  <a:pt x="487227" y="2960896"/>
                  <a:pt x="376920" y="2960896"/>
                </a:cubicBezTo>
                <a:close/>
                <a:moveTo>
                  <a:pt x="376921" y="3072323"/>
                </a:moveTo>
                <a:cubicBezTo>
                  <a:pt x="539434" y="3072323"/>
                  <a:pt x="671176" y="2940581"/>
                  <a:pt x="671176" y="2778068"/>
                </a:cubicBezTo>
                <a:cubicBezTo>
                  <a:pt x="671176" y="2615555"/>
                  <a:pt x="539434" y="2483813"/>
                  <a:pt x="376921" y="2483813"/>
                </a:cubicBezTo>
                <a:cubicBezTo>
                  <a:pt x="214408" y="2483813"/>
                  <a:pt x="82666" y="2615555"/>
                  <a:pt x="82666" y="2778068"/>
                </a:cubicBezTo>
                <a:cubicBezTo>
                  <a:pt x="82666" y="2940581"/>
                  <a:pt x="214408" y="3072323"/>
                  <a:pt x="376921" y="3072323"/>
                </a:cubicBezTo>
                <a:close/>
                <a:moveTo>
                  <a:pt x="2379939" y="3207575"/>
                </a:moveTo>
                <a:cubicBezTo>
                  <a:pt x="2342159" y="3210380"/>
                  <a:pt x="2303308" y="3198772"/>
                  <a:pt x="2272342" y="3172087"/>
                </a:cubicBezTo>
                <a:cubicBezTo>
                  <a:pt x="2210411" y="3118717"/>
                  <a:pt x="2203469" y="3025247"/>
                  <a:pt x="2256839" y="2963315"/>
                </a:cubicBezTo>
                <a:cubicBezTo>
                  <a:pt x="2292137" y="2922355"/>
                  <a:pt x="2344975" y="2905450"/>
                  <a:pt x="2394194" y="2916618"/>
                </a:cubicBezTo>
                <a:lnTo>
                  <a:pt x="2482323" y="2842744"/>
                </a:lnTo>
                <a:lnTo>
                  <a:pt x="2486558" y="2847797"/>
                </a:lnTo>
                <a:cubicBezTo>
                  <a:pt x="2638916" y="2767056"/>
                  <a:pt x="2628462" y="2744879"/>
                  <a:pt x="2689889" y="2690172"/>
                </a:cubicBezTo>
                <a:cubicBezTo>
                  <a:pt x="2722819" y="2655246"/>
                  <a:pt x="2732363" y="2657367"/>
                  <a:pt x="2726376" y="2568558"/>
                </a:cubicBezTo>
                <a:lnTo>
                  <a:pt x="2730335" y="2568172"/>
                </a:lnTo>
                <a:lnTo>
                  <a:pt x="2726098" y="2568172"/>
                </a:lnTo>
                <a:lnTo>
                  <a:pt x="2726098" y="2140027"/>
                </a:lnTo>
                <a:lnTo>
                  <a:pt x="2686068" y="2140105"/>
                </a:lnTo>
                <a:cubicBezTo>
                  <a:pt x="2685662" y="1932305"/>
                  <a:pt x="2574529" y="1740506"/>
                  <a:pt x="2394530" y="1636956"/>
                </a:cubicBezTo>
                <a:cubicBezTo>
                  <a:pt x="2214320" y="1533284"/>
                  <a:pt x="1992511" y="1533845"/>
                  <a:pt x="1812826" y="1638426"/>
                </a:cubicBezTo>
                <a:cubicBezTo>
                  <a:pt x="1633353" y="1742884"/>
                  <a:pt x="1523189" y="1935240"/>
                  <a:pt x="1523830" y="2143038"/>
                </a:cubicBezTo>
                <a:lnTo>
                  <a:pt x="1483625" y="2143162"/>
                </a:lnTo>
                <a:lnTo>
                  <a:pt x="1483625" y="2568172"/>
                </a:lnTo>
                <a:lnTo>
                  <a:pt x="1479388" y="2568172"/>
                </a:lnTo>
                <a:lnTo>
                  <a:pt x="1483347" y="2568558"/>
                </a:lnTo>
                <a:cubicBezTo>
                  <a:pt x="1477359" y="2657367"/>
                  <a:pt x="1486903" y="2655246"/>
                  <a:pt x="1519833" y="2690172"/>
                </a:cubicBezTo>
                <a:cubicBezTo>
                  <a:pt x="1581261" y="2744879"/>
                  <a:pt x="1570806" y="2767057"/>
                  <a:pt x="1723166" y="2847797"/>
                </a:cubicBezTo>
                <a:lnTo>
                  <a:pt x="1727402" y="2842744"/>
                </a:lnTo>
                <a:lnTo>
                  <a:pt x="1815530" y="2916618"/>
                </a:lnTo>
                <a:cubicBezTo>
                  <a:pt x="1864749" y="2905450"/>
                  <a:pt x="1917587" y="2922356"/>
                  <a:pt x="1952884" y="2963315"/>
                </a:cubicBezTo>
                <a:cubicBezTo>
                  <a:pt x="2006254" y="3025247"/>
                  <a:pt x="1999313" y="3118717"/>
                  <a:pt x="1937381" y="3172087"/>
                </a:cubicBezTo>
                <a:cubicBezTo>
                  <a:pt x="1906416" y="3198772"/>
                  <a:pt x="1867565" y="3210380"/>
                  <a:pt x="1829785" y="3207575"/>
                </a:cubicBezTo>
                <a:cubicBezTo>
                  <a:pt x="1792004" y="3204769"/>
                  <a:pt x="1755294" y="3187551"/>
                  <a:pt x="1728609" y="3156586"/>
                </a:cubicBezTo>
                <a:cubicBezTo>
                  <a:pt x="1704170" y="3128225"/>
                  <a:pt x="1692377" y="3093251"/>
                  <a:pt x="1694258" y="3058558"/>
                </a:cubicBezTo>
                <a:lnTo>
                  <a:pt x="1607474" y="2985811"/>
                </a:lnTo>
                <a:lnTo>
                  <a:pt x="1609754" y="2983092"/>
                </a:lnTo>
                <a:cubicBezTo>
                  <a:pt x="1505378" y="2914609"/>
                  <a:pt x="1454899" y="2874388"/>
                  <a:pt x="1372959" y="2808609"/>
                </a:cubicBezTo>
                <a:cubicBezTo>
                  <a:pt x="1301402" y="2768123"/>
                  <a:pt x="1295976" y="2652344"/>
                  <a:pt x="1300245" y="2568172"/>
                </a:cubicBezTo>
                <a:lnTo>
                  <a:pt x="1296941" y="2568172"/>
                </a:lnTo>
                <a:lnTo>
                  <a:pt x="1296941" y="2143739"/>
                </a:lnTo>
                <a:lnTo>
                  <a:pt x="1251342" y="2143880"/>
                </a:lnTo>
                <a:cubicBezTo>
                  <a:pt x="1250400" y="1838694"/>
                  <a:pt x="1412261" y="1556194"/>
                  <a:pt x="1675942" y="1402813"/>
                </a:cubicBezTo>
                <a:cubicBezTo>
                  <a:pt x="1778114" y="1343381"/>
                  <a:pt x="1889554" y="1306836"/>
                  <a:pt x="2003205" y="1293823"/>
                </a:cubicBezTo>
                <a:lnTo>
                  <a:pt x="2003205" y="878785"/>
                </a:lnTo>
                <a:lnTo>
                  <a:pt x="1998176" y="878621"/>
                </a:lnTo>
                <a:cubicBezTo>
                  <a:pt x="2009560" y="630102"/>
                  <a:pt x="1847671" y="398939"/>
                  <a:pt x="1584243" y="287563"/>
                </a:cubicBezTo>
                <a:cubicBezTo>
                  <a:pt x="1373323" y="198386"/>
                  <a:pt x="1125012" y="198092"/>
                  <a:pt x="913796" y="286769"/>
                </a:cubicBezTo>
                <a:cubicBezTo>
                  <a:pt x="650203" y="397436"/>
                  <a:pt x="487575" y="627955"/>
                  <a:pt x="497878" y="876315"/>
                </a:cubicBezTo>
                <a:lnTo>
                  <a:pt x="492947" y="876461"/>
                </a:lnTo>
                <a:lnTo>
                  <a:pt x="492947" y="2424958"/>
                </a:lnTo>
                <a:cubicBezTo>
                  <a:pt x="646520" y="2471832"/>
                  <a:pt x="757382" y="2615059"/>
                  <a:pt x="757382" y="2784179"/>
                </a:cubicBezTo>
                <a:cubicBezTo>
                  <a:pt x="757382" y="2993324"/>
                  <a:pt x="587836" y="3162870"/>
                  <a:pt x="378691" y="3162870"/>
                </a:cubicBezTo>
                <a:cubicBezTo>
                  <a:pt x="169546" y="3162870"/>
                  <a:pt x="0" y="2993324"/>
                  <a:pt x="0" y="2784179"/>
                </a:cubicBezTo>
                <a:cubicBezTo>
                  <a:pt x="0" y="2610447"/>
                  <a:pt x="116991" y="2464039"/>
                  <a:pt x="276947" y="2421074"/>
                </a:cubicBezTo>
                <a:lnTo>
                  <a:pt x="276947" y="783746"/>
                </a:lnTo>
                <a:lnTo>
                  <a:pt x="281758" y="783746"/>
                </a:lnTo>
                <a:cubicBezTo>
                  <a:pt x="307533" y="493124"/>
                  <a:pt x="502412" y="231983"/>
                  <a:pt x="801266" y="95774"/>
                </a:cubicBezTo>
                <a:cubicBezTo>
                  <a:pt x="1082323" y="-32324"/>
                  <a:pt x="1416727" y="-31901"/>
                  <a:pt x="1697364" y="96907"/>
                </a:cubicBezTo>
                <a:cubicBezTo>
                  <a:pt x="1994951" y="233494"/>
                  <a:pt x="2188714" y="494056"/>
                  <a:pt x="2214549" y="783746"/>
                </a:cubicBezTo>
                <a:lnTo>
                  <a:pt x="2219205" y="783746"/>
                </a:lnTo>
                <a:lnTo>
                  <a:pt x="2219205" y="1295162"/>
                </a:lnTo>
                <a:cubicBezTo>
                  <a:pt x="2327099" y="1309357"/>
                  <a:pt x="2432799" y="1344641"/>
                  <a:pt x="2530224" y="1400656"/>
                </a:cubicBezTo>
                <a:cubicBezTo>
                  <a:pt x="2794677" y="1552703"/>
                  <a:pt x="2957961" y="1834385"/>
                  <a:pt x="2958558" y="2139573"/>
                </a:cubicBezTo>
                <a:lnTo>
                  <a:pt x="2912782" y="2139663"/>
                </a:lnTo>
                <a:lnTo>
                  <a:pt x="2912782" y="2568172"/>
                </a:lnTo>
                <a:lnTo>
                  <a:pt x="2909478" y="2568172"/>
                </a:lnTo>
                <a:cubicBezTo>
                  <a:pt x="2913747" y="2652344"/>
                  <a:pt x="2908320" y="2768123"/>
                  <a:pt x="2836763" y="2808609"/>
                </a:cubicBezTo>
                <a:cubicBezTo>
                  <a:pt x="2754824" y="2874388"/>
                  <a:pt x="2704345" y="2914609"/>
                  <a:pt x="2599970" y="2983091"/>
                </a:cubicBezTo>
                <a:lnTo>
                  <a:pt x="2602250" y="2985811"/>
                </a:lnTo>
                <a:lnTo>
                  <a:pt x="2515466" y="3058559"/>
                </a:lnTo>
                <a:cubicBezTo>
                  <a:pt x="2517346" y="3093252"/>
                  <a:pt x="2505554" y="3128225"/>
                  <a:pt x="2481114" y="3156586"/>
                </a:cubicBezTo>
                <a:cubicBezTo>
                  <a:pt x="2454429" y="3187551"/>
                  <a:pt x="2417719" y="3204769"/>
                  <a:pt x="2379939" y="3207575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Round Same Side Corner Rectangle 8">
            <a:extLst>
              <a:ext uri="{FF2B5EF4-FFF2-40B4-BE49-F238E27FC236}">
                <a16:creationId xmlns:a16="http://schemas.microsoft.com/office/drawing/2014/main" id="{F8E284A6-DD7B-4286-9878-9131735222BC}"/>
              </a:ext>
            </a:extLst>
          </p:cNvPr>
          <p:cNvSpPr/>
          <p:nvPr/>
        </p:nvSpPr>
        <p:spPr>
          <a:xfrm>
            <a:off x="4729392" y="2720231"/>
            <a:ext cx="354992" cy="355536"/>
          </a:xfrm>
          <a:custGeom>
            <a:avLst/>
            <a:gdLst/>
            <a:ahLst/>
            <a:cxnLst/>
            <a:rect l="l" t="t" r="r" b="b"/>
            <a:pathLst>
              <a:path w="3197597" h="3202496">
                <a:moveTo>
                  <a:pt x="601421" y="1611393"/>
                </a:moveTo>
                <a:lnTo>
                  <a:pt x="2596176" y="1611393"/>
                </a:lnTo>
                <a:cubicBezTo>
                  <a:pt x="2928331" y="1611393"/>
                  <a:pt x="3197594" y="1880656"/>
                  <a:pt x="3197594" y="2212811"/>
                </a:cubicBezTo>
                <a:lnTo>
                  <a:pt x="3197594" y="2776360"/>
                </a:lnTo>
                <a:lnTo>
                  <a:pt x="3197597" y="2776360"/>
                </a:lnTo>
                <a:lnTo>
                  <a:pt x="3197597" y="2914824"/>
                </a:lnTo>
                <a:lnTo>
                  <a:pt x="3197198" y="2914824"/>
                </a:lnTo>
                <a:lnTo>
                  <a:pt x="3197198" y="3202496"/>
                </a:lnTo>
                <a:lnTo>
                  <a:pt x="398" y="3202496"/>
                </a:lnTo>
                <a:lnTo>
                  <a:pt x="398" y="2914824"/>
                </a:lnTo>
                <a:lnTo>
                  <a:pt x="0" y="2914824"/>
                </a:lnTo>
                <a:lnTo>
                  <a:pt x="0" y="2212811"/>
                </a:lnTo>
                <a:cubicBezTo>
                  <a:pt x="0" y="1880656"/>
                  <a:pt x="269266" y="1611393"/>
                  <a:pt x="601421" y="1611393"/>
                </a:cubicBezTo>
                <a:close/>
                <a:moveTo>
                  <a:pt x="1598801" y="0"/>
                </a:moveTo>
                <a:cubicBezTo>
                  <a:pt x="1998649" y="0"/>
                  <a:pt x="2322791" y="324142"/>
                  <a:pt x="2322791" y="723993"/>
                </a:cubicBezTo>
                <a:cubicBezTo>
                  <a:pt x="2322791" y="1123843"/>
                  <a:pt x="1998649" y="1447985"/>
                  <a:pt x="1598801" y="1447985"/>
                </a:cubicBezTo>
                <a:cubicBezTo>
                  <a:pt x="1198951" y="1447985"/>
                  <a:pt x="874809" y="1123843"/>
                  <a:pt x="874809" y="723993"/>
                </a:cubicBezTo>
                <a:cubicBezTo>
                  <a:pt x="874809" y="324142"/>
                  <a:pt x="1198951" y="0"/>
                  <a:pt x="159880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Block Arc 25">
            <a:extLst>
              <a:ext uri="{FF2B5EF4-FFF2-40B4-BE49-F238E27FC236}">
                <a16:creationId xmlns:a16="http://schemas.microsoft.com/office/drawing/2014/main" id="{9ABD3111-3E60-4179-82C5-F12FCB2BF358}"/>
              </a:ext>
            </a:extLst>
          </p:cNvPr>
          <p:cNvSpPr/>
          <p:nvPr/>
        </p:nvSpPr>
        <p:spPr>
          <a:xfrm>
            <a:off x="7637758" y="2717948"/>
            <a:ext cx="245394" cy="354521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00999" y="123478"/>
            <a:ext cx="5825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altLang="ko-KR" sz="3200" b="1" dirty="0" err="1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Role</a:t>
            </a:r>
            <a:r>
              <a:rPr lang="de-CH" altLang="ko-KR" sz="3200" b="1" dirty="0" err="1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-Based</a:t>
            </a:r>
            <a:r>
              <a:rPr lang="de-CH" altLang="ko-KR" sz="3200" b="1" dirty="0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 </a:t>
            </a:r>
            <a:r>
              <a:rPr lang="de-CH" altLang="ko-KR" sz="3200" b="1" dirty="0" err="1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A</a:t>
            </a:r>
            <a:r>
              <a:rPr lang="de-CH" altLang="ko-KR" sz="3200" b="1" dirty="0" err="1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uthentification</a:t>
            </a:r>
            <a:r>
              <a:rPr lang="de-CH" altLang="ko-KR" sz="3200" b="1" dirty="0" smtClean="0">
                <a:solidFill>
                  <a:schemeClr val="accent3">
                    <a:lumMod val="75000"/>
                  </a:schemeClr>
                </a:solidFill>
                <a:cs typeface="Arial" pitchFamily="34" charset="0"/>
              </a:rPr>
              <a:t> </a:t>
            </a:r>
            <a:endParaRPr lang="ko-KR" altLang="en-US" sz="3200" b="1" dirty="0">
              <a:solidFill>
                <a:schemeClr val="accent3">
                  <a:lumMod val="75000"/>
                </a:schemeClr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445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65"/>
          <p:cNvSpPr txBox="1"/>
          <p:nvPr/>
        </p:nvSpPr>
        <p:spPr>
          <a:xfrm>
            <a:off x="251520" y="193097"/>
            <a:ext cx="28599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4000" b="1" dirty="0" smtClean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Easy Patient </a:t>
            </a:r>
            <a:r>
              <a:rPr lang="en-US" altLang="ko-KR" sz="4000" b="1" dirty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O</a:t>
            </a:r>
            <a:r>
              <a:rPr lang="en-US" altLang="ko-KR" sz="4000" b="1" dirty="0" smtClean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verview</a:t>
            </a:r>
            <a:endParaRPr lang="ko-KR" altLang="en-US" sz="4000" b="1" dirty="0">
              <a:solidFill>
                <a:schemeClr val="accent3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79" name="Group 78"/>
          <p:cNvGrpSpPr/>
          <p:nvPr/>
        </p:nvGrpSpPr>
        <p:grpSpPr>
          <a:xfrm>
            <a:off x="3851920" y="771550"/>
            <a:ext cx="538036" cy="538036"/>
            <a:chOff x="4298598" y="1406129"/>
            <a:chExt cx="538036" cy="538036"/>
          </a:xfrm>
        </p:grpSpPr>
        <p:sp>
          <p:nvSpPr>
            <p:cNvPr id="63" name="Oval 62"/>
            <p:cNvSpPr/>
            <p:nvPr/>
          </p:nvSpPr>
          <p:spPr>
            <a:xfrm>
              <a:off x="4298598" y="1406129"/>
              <a:ext cx="538036" cy="538036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  <a:ln w="317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387596" y="1490481"/>
              <a:ext cx="36004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b="1" dirty="0">
                  <a:latin typeface="Arial" pitchFamily="34" charset="0"/>
                  <a:cs typeface="Arial" pitchFamily="34" charset="0"/>
                </a:rPr>
                <a:t>1</a:t>
              </a:r>
              <a:endParaRPr lang="ko-KR" alt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851920" y="1680527"/>
            <a:ext cx="538036" cy="538036"/>
            <a:chOff x="4298598" y="2241725"/>
            <a:chExt cx="538036" cy="538036"/>
          </a:xfrm>
        </p:grpSpPr>
        <p:sp>
          <p:nvSpPr>
            <p:cNvPr id="71" name="Oval 70"/>
            <p:cNvSpPr/>
            <p:nvPr/>
          </p:nvSpPr>
          <p:spPr>
            <a:xfrm>
              <a:off x="4298598" y="2241725"/>
              <a:ext cx="538036" cy="538036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  <a:ln w="317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387596" y="2326077"/>
              <a:ext cx="36004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b="1" dirty="0">
                  <a:latin typeface="Arial" pitchFamily="34" charset="0"/>
                  <a:cs typeface="Arial" pitchFamily="34" charset="0"/>
                </a:rPr>
                <a:t>2</a:t>
              </a:r>
              <a:endParaRPr lang="ko-KR" alt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3851920" y="2589504"/>
            <a:ext cx="538036" cy="538036"/>
            <a:chOff x="4298598" y="3049560"/>
            <a:chExt cx="538036" cy="538036"/>
          </a:xfrm>
        </p:grpSpPr>
        <p:sp>
          <p:nvSpPr>
            <p:cNvPr id="72" name="Oval 71"/>
            <p:cNvSpPr/>
            <p:nvPr/>
          </p:nvSpPr>
          <p:spPr>
            <a:xfrm>
              <a:off x="4298598" y="3049560"/>
              <a:ext cx="538036" cy="538036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  <a:ln w="317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387596" y="3133912"/>
              <a:ext cx="36004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b="1" dirty="0">
                  <a:latin typeface="Arial" pitchFamily="34" charset="0"/>
                  <a:cs typeface="Arial" pitchFamily="34" charset="0"/>
                </a:rPr>
                <a:t>3</a:t>
              </a:r>
              <a:endParaRPr lang="ko-KR" alt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82" name="Group 81"/>
          <p:cNvGrpSpPr/>
          <p:nvPr/>
        </p:nvGrpSpPr>
        <p:grpSpPr>
          <a:xfrm>
            <a:off x="3851920" y="3498481"/>
            <a:ext cx="538036" cy="538036"/>
            <a:chOff x="4298598" y="3857396"/>
            <a:chExt cx="538036" cy="538036"/>
          </a:xfrm>
        </p:grpSpPr>
        <p:sp>
          <p:nvSpPr>
            <p:cNvPr id="73" name="Oval 72"/>
            <p:cNvSpPr/>
            <p:nvPr/>
          </p:nvSpPr>
          <p:spPr>
            <a:xfrm>
              <a:off x="4298598" y="3857396"/>
              <a:ext cx="538036" cy="538036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  <a:ln w="3175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387596" y="3941748"/>
              <a:ext cx="36004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b="1" dirty="0">
                  <a:latin typeface="Arial" pitchFamily="34" charset="0"/>
                  <a:cs typeface="Arial" pitchFamily="34" charset="0"/>
                </a:rPr>
                <a:t>4</a:t>
              </a:r>
              <a:endParaRPr lang="ko-KR" alt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78" name="TextBox 77"/>
          <p:cNvSpPr txBox="1"/>
          <p:nvPr/>
        </p:nvSpPr>
        <p:spPr>
          <a:xfrm>
            <a:off x="4477564" y="869971"/>
            <a:ext cx="349975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Name/Address</a:t>
            </a:r>
            <a:r>
              <a:rPr lang="en-US" altLang="ko-KR" sz="1200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r>
              <a:rPr lang="en-US" altLang="ko-KR" sz="1400" i="1" dirty="0" smtClean="0">
                <a:latin typeface="Arial" pitchFamily="34" charset="0"/>
                <a:cs typeface="Arial" pitchFamily="34" charset="0"/>
              </a:rPr>
              <a:t>displayed for quick access 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477564" y="1794997"/>
            <a:ext cx="349975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Current patient conditions</a:t>
            </a:r>
          </a:p>
          <a:p>
            <a:r>
              <a:rPr lang="en-US" altLang="ko-KR" sz="1400" i="1" dirty="0" smtClean="0">
                <a:latin typeface="Arial" pitchFamily="34" charset="0"/>
                <a:cs typeface="Arial" pitchFamily="34" charset="0"/>
              </a:rPr>
              <a:t>Individualized approach</a:t>
            </a:r>
            <a:endParaRPr lang="ko-KR" altLang="en-US" sz="1400" i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477564" y="2673856"/>
            <a:ext cx="4270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rgbClr val="0A9DA3"/>
                </a:solidFill>
                <a:latin typeface="Arial" pitchFamily="34" charset="0"/>
                <a:cs typeface="Arial" pitchFamily="34" charset="0"/>
              </a:rPr>
              <a:t>All of staff/doctors assigned to the patient</a:t>
            </a:r>
            <a:endParaRPr lang="ko-KR" altLang="en-US" sz="1600" b="1" dirty="0">
              <a:solidFill>
                <a:srgbClr val="0A9DA3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477564" y="3492856"/>
            <a:ext cx="5567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solidFill>
                  <a:srgbClr val="0A9DA3"/>
                </a:solidFill>
                <a:latin typeface="Arial" pitchFamily="34" charset="0"/>
                <a:cs typeface="Arial" pitchFamily="34" charset="0"/>
              </a:rPr>
              <a:t>Visible </a:t>
            </a:r>
            <a:r>
              <a:rPr lang="en-US" altLang="ko-KR" sz="1600" b="1" dirty="0">
                <a:solidFill>
                  <a:srgbClr val="0A9DA3"/>
                </a:solidFill>
                <a:latin typeface="Arial" pitchFamily="34" charset="0"/>
                <a:cs typeface="Arial" pitchFamily="34" charset="0"/>
              </a:rPr>
              <a:t>and manageable </a:t>
            </a:r>
            <a:r>
              <a:rPr lang="en-US" altLang="ko-KR" sz="1600" b="1" dirty="0" smtClean="0">
                <a:solidFill>
                  <a:srgbClr val="0A9DA3"/>
                </a:solidFill>
                <a:latin typeface="Arial" pitchFamily="34" charset="0"/>
                <a:cs typeface="Arial" pitchFamily="34" charset="0"/>
              </a:rPr>
              <a:t>request </a:t>
            </a:r>
          </a:p>
          <a:p>
            <a:r>
              <a:rPr lang="en-US" altLang="ko-KR" sz="1600" b="1" dirty="0" smtClean="0">
                <a:solidFill>
                  <a:srgbClr val="0A9DA3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altLang="ko-KR" sz="1600" b="1" dirty="0">
                <a:solidFill>
                  <a:srgbClr val="0A9DA3"/>
                </a:solidFill>
                <a:latin typeface="Arial" pitchFamily="34" charset="0"/>
                <a:cs typeface="Arial" pitchFamily="34" charset="0"/>
              </a:rPr>
              <a:t>from Doctors/Nurses</a:t>
            </a:r>
            <a:endParaRPr lang="ko-KR" altLang="en-US" sz="1600" b="1" dirty="0">
              <a:solidFill>
                <a:srgbClr val="0A9DA3"/>
              </a:solidFill>
              <a:latin typeface="Arial" pitchFamily="34" charset="0"/>
              <a:cs typeface="Arial" pitchFamily="34" charset="0"/>
            </a:endParaRPr>
          </a:p>
          <a:p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274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Gerader Verbinder 35"/>
          <p:cNvCxnSpPr>
            <a:stCxn id="21" idx="2"/>
            <a:endCxn id="12" idx="4"/>
          </p:cNvCxnSpPr>
          <p:nvPr/>
        </p:nvCxnSpPr>
        <p:spPr>
          <a:xfrm>
            <a:off x="3000099" y="2499743"/>
            <a:ext cx="7984" cy="567519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itle 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 </a:t>
            </a:r>
            <a:r>
              <a:rPr lang="en-US" altLang="ko-KR" dirty="0" smtClean="0">
                <a:solidFill>
                  <a:schemeClr val="accent1"/>
                </a:solidFill>
              </a:rPr>
              <a:t>E-Mail Converting</a:t>
            </a:r>
            <a:endParaRPr lang="ko-KR" altLang="en-US" dirty="0"/>
          </a:p>
        </p:txBody>
      </p:sp>
      <p:cxnSp>
        <p:nvCxnSpPr>
          <p:cNvPr id="3" name="Straight Connector 2"/>
          <p:cNvCxnSpPr>
            <a:stCxn id="9" idx="6"/>
          </p:cNvCxnSpPr>
          <p:nvPr/>
        </p:nvCxnSpPr>
        <p:spPr>
          <a:xfrm>
            <a:off x="1670688" y="3006407"/>
            <a:ext cx="5984077" cy="8296"/>
          </a:xfrm>
          <a:prstGeom prst="line">
            <a:avLst/>
          </a:prstGeom>
          <a:ln w="25400">
            <a:solidFill>
              <a:schemeClr val="tx1">
                <a:lumMod val="75000"/>
                <a:lumOff val="2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/>
          <p:cNvGrpSpPr/>
          <p:nvPr/>
        </p:nvGrpSpPr>
        <p:grpSpPr>
          <a:xfrm>
            <a:off x="1454664" y="2862391"/>
            <a:ext cx="288032" cy="288032"/>
            <a:chOff x="611560" y="2851238"/>
            <a:chExt cx="288032" cy="288032"/>
          </a:xfrm>
        </p:grpSpPr>
        <p:sp>
          <p:nvSpPr>
            <p:cNvPr id="8" name="Oval 7"/>
            <p:cNvSpPr/>
            <p:nvPr/>
          </p:nvSpPr>
          <p:spPr>
            <a:xfrm>
              <a:off x="611560" y="2851238"/>
              <a:ext cx="288032" cy="288032"/>
            </a:xfrm>
            <a:prstGeom prst="ellipse">
              <a:avLst/>
            </a:prstGeom>
            <a:solidFill>
              <a:schemeClr val="accent5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683568" y="2923246"/>
              <a:ext cx="144016" cy="144016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864067" y="2851238"/>
            <a:ext cx="288032" cy="288032"/>
            <a:chOff x="611560" y="2851238"/>
            <a:chExt cx="288032" cy="288032"/>
          </a:xfrm>
        </p:grpSpPr>
        <p:sp>
          <p:nvSpPr>
            <p:cNvPr id="11" name="Oval 10"/>
            <p:cNvSpPr/>
            <p:nvPr/>
          </p:nvSpPr>
          <p:spPr>
            <a:xfrm>
              <a:off x="611560" y="2851238"/>
              <a:ext cx="288032" cy="288032"/>
            </a:xfrm>
            <a:prstGeom prst="ellipse">
              <a:avLst/>
            </a:prstGeom>
            <a:solidFill>
              <a:schemeClr val="accent4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683568" y="2923246"/>
              <a:ext cx="144016" cy="144016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273470" y="2851238"/>
            <a:ext cx="288032" cy="288032"/>
            <a:chOff x="611560" y="2851238"/>
            <a:chExt cx="288032" cy="288032"/>
          </a:xfrm>
        </p:grpSpPr>
        <p:sp>
          <p:nvSpPr>
            <p:cNvPr id="14" name="Oval 13"/>
            <p:cNvSpPr/>
            <p:nvPr/>
          </p:nvSpPr>
          <p:spPr>
            <a:xfrm>
              <a:off x="611560" y="2851238"/>
              <a:ext cx="288032" cy="288032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Oval 14"/>
            <p:cNvSpPr/>
            <p:nvPr/>
          </p:nvSpPr>
          <p:spPr>
            <a:xfrm>
              <a:off x="683568" y="2923246"/>
              <a:ext cx="144016" cy="144016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682873" y="2851238"/>
            <a:ext cx="288032" cy="288032"/>
            <a:chOff x="611560" y="2851238"/>
            <a:chExt cx="288032" cy="288032"/>
          </a:xfrm>
        </p:grpSpPr>
        <p:sp>
          <p:nvSpPr>
            <p:cNvPr id="17" name="Oval 16"/>
            <p:cNvSpPr/>
            <p:nvPr/>
          </p:nvSpPr>
          <p:spPr>
            <a:xfrm>
              <a:off x="611560" y="2851238"/>
              <a:ext cx="288032" cy="288032"/>
            </a:xfrm>
            <a:prstGeom prst="ellipse">
              <a:avLst/>
            </a:prstGeom>
            <a:solidFill>
              <a:schemeClr val="accent2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83568" y="2923246"/>
              <a:ext cx="144016" cy="144016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 Placeholder 17"/>
          <p:cNvSpPr txBox="1">
            <a:spLocks/>
          </p:cNvSpPr>
          <p:nvPr/>
        </p:nvSpPr>
        <p:spPr>
          <a:xfrm>
            <a:off x="4799175" y="2125340"/>
            <a:ext cx="2055430" cy="501774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Nurse sees message and attached files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0" name="Text Placeholder 17"/>
          <p:cNvSpPr txBox="1">
            <a:spLocks/>
          </p:cNvSpPr>
          <p:nvPr/>
        </p:nvSpPr>
        <p:spPr>
          <a:xfrm>
            <a:off x="3900708" y="3413597"/>
            <a:ext cx="1033555" cy="998869"/>
          </a:xfrm>
          <a:prstGeom prst="rect">
            <a:avLst/>
          </a:prstGeom>
          <a:ln w="25400">
            <a:solidFill>
              <a:schemeClr val="accent3"/>
            </a:solidFill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Converts &amp; Sends as a chat message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1" name="Text Placeholder 17"/>
          <p:cNvSpPr txBox="1">
            <a:spLocks/>
          </p:cNvSpPr>
          <p:nvPr/>
        </p:nvSpPr>
        <p:spPr>
          <a:xfrm>
            <a:off x="2508317" y="2000771"/>
            <a:ext cx="983563" cy="498972"/>
          </a:xfrm>
          <a:prstGeom prst="rect">
            <a:avLst/>
          </a:prstGeom>
          <a:ln w="25400">
            <a:solidFill>
              <a:schemeClr val="accent4"/>
            </a:solidFill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Letter is received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2" name="Text Placeholder 17"/>
          <p:cNvSpPr txBox="1">
            <a:spLocks/>
          </p:cNvSpPr>
          <p:nvPr/>
        </p:nvSpPr>
        <p:spPr>
          <a:xfrm>
            <a:off x="1079921" y="3301073"/>
            <a:ext cx="1037517" cy="474250"/>
          </a:xfrm>
          <a:prstGeom prst="rect">
            <a:avLst/>
          </a:prstGeom>
          <a:ln w="25400">
            <a:solidFill>
              <a:schemeClr val="accent5"/>
            </a:solidFill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 smtClean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Dr. sends E-Mail 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7" name="Text Placeholder 17"/>
          <p:cNvSpPr txBox="1">
            <a:spLocks/>
          </p:cNvSpPr>
          <p:nvPr/>
        </p:nvSpPr>
        <p:spPr>
          <a:xfrm>
            <a:off x="7092276" y="2694821"/>
            <a:ext cx="1825016" cy="639764"/>
          </a:xfrm>
          <a:prstGeom prst="roundRect">
            <a:avLst/>
          </a:prstGeom>
          <a:solidFill>
            <a:srgbClr val="65C2C5"/>
          </a:solidFill>
          <a:ln w="25400">
            <a:solidFill>
              <a:schemeClr val="accent1"/>
            </a:solidFill>
          </a:ln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 smtClean="0">
                <a:solidFill>
                  <a:schemeClr val="bg1"/>
                </a:solidFill>
                <a:cs typeface="Arial" pitchFamily="34" charset="0"/>
              </a:rPr>
              <a:t>Workflow </a:t>
            </a:r>
          </a:p>
          <a:p>
            <a:pPr marL="0" indent="0" algn="ctr">
              <a:buNone/>
            </a:pPr>
            <a:r>
              <a:rPr lang="en-US" sz="1600" b="1" dirty="0" smtClean="0">
                <a:solidFill>
                  <a:schemeClr val="bg1"/>
                </a:solidFill>
                <a:cs typeface="Arial" pitchFamily="34" charset="0"/>
              </a:rPr>
              <a:t>Simplified</a:t>
            </a:r>
            <a:endParaRPr 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cxnSp>
        <p:nvCxnSpPr>
          <p:cNvPr id="31" name="Gerader Verbinder 30"/>
          <p:cNvCxnSpPr>
            <a:stCxn id="22" idx="0"/>
            <a:endCxn id="9" idx="4"/>
          </p:cNvCxnSpPr>
          <p:nvPr/>
        </p:nvCxnSpPr>
        <p:spPr>
          <a:xfrm flipV="1">
            <a:off x="1598680" y="3078415"/>
            <a:ext cx="0" cy="222658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5" name="Gerader Verbinder 44"/>
          <p:cNvCxnSpPr>
            <a:stCxn id="15" idx="4"/>
            <a:endCxn id="20" idx="0"/>
          </p:cNvCxnSpPr>
          <p:nvPr/>
        </p:nvCxnSpPr>
        <p:spPr>
          <a:xfrm>
            <a:off x="4417486" y="3067262"/>
            <a:ext cx="0" cy="346335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1" name="Gerader Verbinder 50"/>
          <p:cNvCxnSpPr>
            <a:stCxn id="19" idx="2"/>
            <a:endCxn id="18" idx="0"/>
          </p:cNvCxnSpPr>
          <p:nvPr/>
        </p:nvCxnSpPr>
        <p:spPr>
          <a:xfrm flipH="1">
            <a:off x="5826889" y="2627114"/>
            <a:ext cx="1" cy="296132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2792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 </a:t>
            </a:r>
            <a:r>
              <a:rPr lang="en-US" altLang="ko-KR" dirty="0" smtClean="0"/>
              <a:t>Chat</a:t>
            </a:r>
            <a:r>
              <a:rPr lang="en-US" altLang="ko-KR" dirty="0" smtClean="0"/>
              <a:t> </a:t>
            </a:r>
            <a:r>
              <a:rPr lang="en-US" altLang="ko-KR" dirty="0" smtClean="0">
                <a:solidFill>
                  <a:srgbClr val="0A9DA3"/>
                </a:solidFill>
              </a:rPr>
              <a:t>Features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794425" y="1275558"/>
            <a:ext cx="609223" cy="609223"/>
          </a:xfrm>
          <a:prstGeom prst="ellipse">
            <a:avLst/>
          </a:prstGeom>
          <a:solidFill>
            <a:schemeClr val="accent1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Oval 8"/>
          <p:cNvSpPr/>
          <p:nvPr/>
        </p:nvSpPr>
        <p:spPr>
          <a:xfrm>
            <a:off x="794425" y="2217798"/>
            <a:ext cx="609223" cy="609223"/>
          </a:xfrm>
          <a:prstGeom prst="ellipse">
            <a:avLst/>
          </a:prstGeom>
          <a:solidFill>
            <a:schemeClr val="accent2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Oval 9"/>
          <p:cNvSpPr/>
          <p:nvPr/>
        </p:nvSpPr>
        <p:spPr>
          <a:xfrm>
            <a:off x="4866578" y="3193441"/>
            <a:ext cx="609223" cy="609223"/>
          </a:xfrm>
          <a:prstGeom prst="ellipse">
            <a:avLst/>
          </a:prstGeom>
          <a:solidFill>
            <a:schemeClr val="accent3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10"/>
          <p:cNvSpPr/>
          <p:nvPr/>
        </p:nvSpPr>
        <p:spPr>
          <a:xfrm>
            <a:off x="794425" y="3193440"/>
            <a:ext cx="609223" cy="609223"/>
          </a:xfrm>
          <a:prstGeom prst="ellipse">
            <a:avLst/>
          </a:prstGeom>
          <a:solidFill>
            <a:schemeClr val="accent4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Oval 15"/>
          <p:cNvSpPr/>
          <p:nvPr/>
        </p:nvSpPr>
        <p:spPr>
          <a:xfrm>
            <a:off x="4864933" y="1275558"/>
            <a:ext cx="609223" cy="609223"/>
          </a:xfrm>
          <a:prstGeom prst="ellipse">
            <a:avLst/>
          </a:prstGeom>
          <a:solidFill>
            <a:schemeClr val="accent1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Oval 16"/>
          <p:cNvSpPr/>
          <p:nvPr/>
        </p:nvSpPr>
        <p:spPr>
          <a:xfrm>
            <a:off x="4864933" y="2217798"/>
            <a:ext cx="609223" cy="609223"/>
          </a:xfrm>
          <a:prstGeom prst="ellipse">
            <a:avLst/>
          </a:prstGeom>
          <a:solidFill>
            <a:schemeClr val="accent2"/>
          </a:solidFill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1" name="Group 40"/>
          <p:cNvGrpSpPr/>
          <p:nvPr/>
        </p:nvGrpSpPr>
        <p:grpSpPr>
          <a:xfrm>
            <a:off x="1558022" y="1220114"/>
            <a:ext cx="2830257" cy="720109"/>
            <a:chOff x="1472558" y="998559"/>
            <a:chExt cx="2765965" cy="720109"/>
          </a:xfrm>
        </p:grpSpPr>
        <p:sp>
          <p:nvSpPr>
            <p:cNvPr id="28" name="TextBox 27"/>
            <p:cNvSpPr txBox="1"/>
            <p:nvPr/>
          </p:nvSpPr>
          <p:spPr>
            <a:xfrm>
              <a:off x="1472558" y="1257003"/>
              <a:ext cx="24529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Private chat for Care Givers with each Patient/Doctor combination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72558" y="998559"/>
              <a:ext cx="2765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 Information Channels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1558022" y="2162354"/>
            <a:ext cx="2830257" cy="720109"/>
            <a:chOff x="1472558" y="998559"/>
            <a:chExt cx="2765965" cy="720109"/>
          </a:xfrm>
        </p:grpSpPr>
        <p:sp>
          <p:nvSpPr>
            <p:cNvPr id="55" name="TextBox 54"/>
            <p:cNvSpPr txBox="1"/>
            <p:nvPr/>
          </p:nvSpPr>
          <p:spPr>
            <a:xfrm>
              <a:off x="1472558" y="1257003"/>
              <a:ext cx="27659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Files can be easily attached 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and sent in chat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472558" y="998559"/>
              <a:ext cx="2765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Easy </a:t>
              </a:r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F</a:t>
              </a:r>
              <a:r>
                <a:rPr lang="en-US" altLang="ko-K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ile Sharing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5630175" y="3137997"/>
            <a:ext cx="2830257" cy="720109"/>
            <a:chOff x="1472558" y="998559"/>
            <a:chExt cx="2765965" cy="720109"/>
          </a:xfrm>
        </p:grpSpPr>
        <p:sp>
          <p:nvSpPr>
            <p:cNvPr id="58" name="TextBox 57"/>
            <p:cNvSpPr txBox="1"/>
            <p:nvPr/>
          </p:nvSpPr>
          <p:spPr>
            <a:xfrm>
              <a:off x="1472558" y="1257003"/>
              <a:ext cx="27659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All sent files in chat are accessible in personalized for each client storage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1472558" y="998559"/>
              <a:ext cx="2765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Individual Central Data Storage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1558022" y="3137997"/>
            <a:ext cx="2830257" cy="720109"/>
            <a:chOff x="1472558" y="998559"/>
            <a:chExt cx="2765965" cy="720109"/>
          </a:xfrm>
        </p:grpSpPr>
        <p:sp>
          <p:nvSpPr>
            <p:cNvPr id="61" name="TextBox 60"/>
            <p:cNvSpPr txBox="1"/>
            <p:nvPr/>
          </p:nvSpPr>
          <p:spPr>
            <a:xfrm>
              <a:off x="1472558" y="1257003"/>
              <a:ext cx="27659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Every request can be marked as urgent or not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472558" y="998559"/>
              <a:ext cx="2765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Importance Markers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5630175" y="1220114"/>
            <a:ext cx="2830257" cy="720109"/>
            <a:chOff x="1472558" y="998559"/>
            <a:chExt cx="2765965" cy="720109"/>
          </a:xfrm>
        </p:grpSpPr>
        <p:sp>
          <p:nvSpPr>
            <p:cNvPr id="64" name="TextBox 63"/>
            <p:cNvSpPr txBox="1"/>
            <p:nvPr/>
          </p:nvSpPr>
          <p:spPr>
            <a:xfrm>
              <a:off x="1472558" y="1257003"/>
              <a:ext cx="27659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The request have a due date and completion status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1472558" y="998559"/>
              <a:ext cx="2765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To-Do Tracking System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5630175" y="2162354"/>
            <a:ext cx="2830257" cy="720109"/>
            <a:chOff x="1472558" y="998559"/>
            <a:chExt cx="2765965" cy="720109"/>
          </a:xfrm>
        </p:grpSpPr>
        <p:sp>
          <p:nvSpPr>
            <p:cNvPr id="67" name="TextBox 66"/>
            <p:cNvSpPr txBox="1"/>
            <p:nvPr/>
          </p:nvSpPr>
          <p:spPr>
            <a:xfrm>
              <a:off x="1472558" y="1257003"/>
              <a:ext cx="27659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Nurses can easily create .</a:t>
              </a:r>
              <a:r>
                <a:rPr lang="en-US" altLang="ko-KR" sz="1200" dirty="0" err="1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xlsx</a:t>
              </a:r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/.txt/.pdf</a:t>
              </a:r>
            </a:p>
            <a:p>
              <a:r>
                <a:rPr lang="en-US" altLang="ko-KR" sz="1200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Files via template in chat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472558" y="998559"/>
              <a:ext cx="2765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 smtClean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rPr>
                <a:t>Templates For Files Creation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65426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ver and End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</Words>
  <Application>Microsoft Office PowerPoint</Application>
  <PresentationFormat>Bildschirmpräsentation (16:9)</PresentationFormat>
  <Paragraphs>39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5</vt:i4>
      </vt:variant>
    </vt:vector>
  </HeadingPairs>
  <TitlesOfParts>
    <vt:vector size="11" baseType="lpstr">
      <vt:lpstr>맑은 고딕</vt:lpstr>
      <vt:lpstr>Arial</vt:lpstr>
      <vt:lpstr>Arial Unicode MS</vt:lpstr>
      <vt:lpstr>Cover and End Slide Master</vt:lpstr>
      <vt:lpstr>Contents Slide Master</vt:lpstr>
      <vt:lpstr>Section Break Slide Master</vt:lpstr>
      <vt:lpstr>Modern &amp; Personal Communication Solution</vt:lpstr>
      <vt:lpstr>PowerPoint-Präsentation</vt:lpstr>
      <vt:lpstr>PowerPoint-Präsentation</vt:lpstr>
      <vt:lpstr> E-Mail Converting</vt:lpstr>
      <vt:lpstr> Chat Features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TZH-053</cp:lastModifiedBy>
  <cp:revision>135</cp:revision>
  <dcterms:created xsi:type="dcterms:W3CDTF">2016-11-07T07:00:36Z</dcterms:created>
  <dcterms:modified xsi:type="dcterms:W3CDTF">2026-01-15T12:04:46Z</dcterms:modified>
</cp:coreProperties>
</file>