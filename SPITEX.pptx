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  <p:sldMasterId id="2147483659" r:id="rId2"/>
    <p:sldMasterId id="2147483664" r:id="rId3"/>
  </p:sldMasterIdLst>
  <p:notesMasterIdLst>
    <p:notesMasterId r:id="rId9"/>
  </p:notesMasterIdLst>
  <p:handoutMasterIdLst>
    <p:handoutMasterId r:id="rId10"/>
  </p:handoutMasterIdLst>
  <p:sldIdLst>
    <p:sldId id="294" r:id="rId4"/>
    <p:sldId id="268" r:id="rId5"/>
    <p:sldId id="257" r:id="rId6"/>
    <p:sldId id="292" r:id="rId7"/>
    <p:sldId id="258" r:id="rId8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D2D9"/>
    <a:srgbClr val="0A9DA3"/>
    <a:srgbClr val="65C2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48" autoAdjust="0"/>
    <p:restoredTop sz="94660"/>
  </p:normalViewPr>
  <p:slideViewPr>
    <p:cSldViewPr showGuides="1">
      <p:cViewPr varScale="1">
        <p:scale>
          <a:sx n="110" d="100"/>
          <a:sy n="110" d="100"/>
        </p:scale>
        <p:origin x="710" y="67"/>
      </p:cViewPr>
      <p:guideLst>
        <p:guide orient="horz" pos="18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-319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1E857-FA80-42FD-B162-41B2A2E1E1C0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5F6BE-D3C4-49DD-B713-542D433C8B00}" type="slidenum">
              <a:rPr lang="ko-KR" altLang="en-US" smtClean="0"/>
              <a:t>‹Nr.›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008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3F161-EA16-4540-AD6C-54BDB9687A6A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AE9C2-5881-4A10-94B1-2302DB8795F8}" type="slidenum">
              <a:rPr lang="ko-KR" altLang="en-US" smtClean="0"/>
              <a:t>‹Nr.›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35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-1" y="3003550"/>
            <a:ext cx="9144001" cy="2139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55576" y="2157550"/>
            <a:ext cx="1692000" cy="169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0" y="51471"/>
            <a:ext cx="9144000" cy="648071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AFCF31D-C6CE-4C4C-AE5A-2A4429FEF2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699566"/>
            <a:ext cx="9143999" cy="216000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This text con be replaced with your own 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25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11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691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619671" cy="5143500"/>
          </a:xfrm>
          <a:prstGeom prst="rect">
            <a:avLst/>
          </a:prstGeom>
          <a:gradFill>
            <a:gsLst>
              <a:gs pos="42000">
                <a:srgbClr val="F6F6F6">
                  <a:lumMod val="97000"/>
                </a:srgbClr>
              </a:gs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584000" y="25735"/>
            <a:ext cx="7560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  <p:pic>
        <p:nvPicPr>
          <p:cNvPr id="8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20" y="3332174"/>
            <a:ext cx="1087451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 userDrawn="1"/>
        </p:nvCxnSpPr>
        <p:spPr>
          <a:xfrm>
            <a:off x="711746" y="4952174"/>
            <a:ext cx="843225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14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776326" y="1262118"/>
            <a:ext cx="1584176" cy="19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9108504" cy="82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179884" y="1352118"/>
            <a:ext cx="144016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723433" y="1437715"/>
            <a:ext cx="1296144" cy="1619999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516784" y="1352118"/>
            <a:ext cx="144016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113226" y="1442119"/>
            <a:ext cx="1296144" cy="1619999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12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674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80000" y="179550"/>
            <a:ext cx="8784000" cy="478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844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720000" y="442505"/>
            <a:ext cx="7704000" cy="42813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75856" y="0"/>
            <a:ext cx="2592288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230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0" y="1635646"/>
            <a:ext cx="4217146" cy="2310733"/>
          </a:xfrm>
          <a:prstGeom prst="rect">
            <a:avLst/>
          </a:prstGeom>
        </p:spPr>
      </p:pic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357764" y="1731146"/>
            <a:ext cx="2952328" cy="19057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8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5724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555776" y="1263998"/>
            <a:ext cx="2772000" cy="34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33752" y="1263998"/>
            <a:ext cx="1835776" cy="17281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733752" y="2991806"/>
            <a:ext cx="1835776" cy="17281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13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815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2411760" y="3939902"/>
            <a:ext cx="2160240" cy="12035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4572000" y="0"/>
            <a:ext cx="2160240" cy="12035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11760" y="0"/>
            <a:ext cx="216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572240" y="1183500"/>
            <a:ext cx="2160000" cy="39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871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1026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11484"/>
            <a:ext cx="3394308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75616" y="1443924"/>
            <a:ext cx="3104295" cy="21359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7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780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 userDrawn="1"/>
        </p:nvSpPr>
        <p:spPr>
          <a:xfrm>
            <a:off x="0" y="2890433"/>
            <a:ext cx="9144000" cy="22530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20696" y="1552933"/>
            <a:ext cx="1298551" cy="2242953"/>
            <a:chOff x="2627784" y="1825002"/>
            <a:chExt cx="1198166" cy="2069560"/>
          </a:xfrm>
        </p:grpSpPr>
        <p:sp>
          <p:nvSpPr>
            <p:cNvPr id="9" name="Rounded Rectangle 8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13" name="Oval 12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Rounded Rectangle 13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7" name="Picture Placeholder 2"/>
          <p:cNvSpPr>
            <a:spLocks noGrp="1"/>
          </p:cNvSpPr>
          <p:nvPr userDrawn="1">
            <p:ph type="pic" idx="1" hasCustomPrompt="1"/>
          </p:nvPr>
        </p:nvSpPr>
        <p:spPr>
          <a:xfrm>
            <a:off x="994588" y="1742834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2910527" y="2088604"/>
            <a:ext cx="1298551" cy="2242953"/>
            <a:chOff x="2627784" y="1825002"/>
            <a:chExt cx="1198166" cy="2069560"/>
          </a:xfrm>
        </p:grpSpPr>
        <p:sp>
          <p:nvSpPr>
            <p:cNvPr id="17" name="Rounded Rectangle 16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20" name="Oval 19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Rounded Rectangle 20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984419" y="2291784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4900358" y="1383368"/>
            <a:ext cx="1298551" cy="2242953"/>
            <a:chOff x="2627784" y="1825002"/>
            <a:chExt cx="1198166" cy="2069560"/>
          </a:xfrm>
        </p:grpSpPr>
        <p:sp>
          <p:nvSpPr>
            <p:cNvPr id="24" name="Rounded Rectangle 23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27" name="Oval 26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Rounded Rectangle 27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9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974250" y="1586548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6890188" y="2345021"/>
            <a:ext cx="1298551" cy="2242953"/>
            <a:chOff x="2627784" y="1825002"/>
            <a:chExt cx="1198166" cy="2069560"/>
          </a:xfrm>
        </p:grpSpPr>
        <p:sp>
          <p:nvSpPr>
            <p:cNvPr id="31" name="Rounded Rectangle 30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34" name="Oval 33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Rounded Rectangle 34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964080" y="2548201"/>
            <a:ext cx="1143174" cy="1802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7" name="Rectangle 36"/>
          <p:cNvSpPr/>
          <p:nvPr userDrawn="1"/>
        </p:nvSpPr>
        <p:spPr>
          <a:xfrm>
            <a:off x="1" y="0"/>
            <a:ext cx="9108504" cy="86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4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l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41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81" y="105782"/>
            <a:ext cx="477240" cy="71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11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2" name="Rounded Rectangle 11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lt"/>
            </a:endParaRPr>
          </a:p>
        </p:txBody>
      </p:sp>
      <p:sp>
        <p:nvSpPr>
          <p:cNvPr id="15" name="Rounded Rectangle 14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Half Frame 15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0292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2699792" y="1851670"/>
            <a:ext cx="6444208" cy="144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619671" cy="5143500"/>
          </a:xfrm>
          <a:prstGeom prst="rect">
            <a:avLst/>
          </a:prstGeom>
          <a:gradFill>
            <a:gsLst>
              <a:gs pos="42000">
                <a:srgbClr val="F6F6F6">
                  <a:lumMod val="97000"/>
                </a:srgbClr>
              </a:gs>
              <a:gs pos="0">
                <a:schemeClr val="bg1">
                  <a:lumMod val="92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Straight Arrow Connector 8"/>
          <p:cNvCxnSpPr>
            <a:stCxn id="7" idx="2"/>
          </p:cNvCxnSpPr>
          <p:nvPr userDrawn="1"/>
        </p:nvCxnSpPr>
        <p:spPr>
          <a:xfrm>
            <a:off x="711746" y="4952174"/>
            <a:ext cx="8432254" cy="0"/>
          </a:xfrm>
          <a:prstGeom prst="straightConnector1">
            <a:avLst/>
          </a:prstGeom>
          <a:ln w="127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131840" y="2233427"/>
            <a:ext cx="5472608" cy="39998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 b="1" baseline="0">
                <a:solidFill>
                  <a:schemeClr val="bg1"/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31840" y="2683835"/>
            <a:ext cx="5472608" cy="197606"/>
          </a:xfrm>
          <a:prstGeom prst="rect">
            <a:avLst/>
          </a:prstGeom>
        </p:spPr>
        <p:txBody>
          <a:bodyPr lIns="108000" anchor="ctr"/>
          <a:lstStyle>
            <a:lvl1pPr marL="0" indent="0" algn="l">
              <a:buNone/>
              <a:defRPr sz="1200" baseline="0">
                <a:solidFill>
                  <a:schemeClr val="bg1"/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Add text</a:t>
            </a:r>
            <a:endParaRPr lang="ko-KR" altLang="en-US" dirty="0"/>
          </a:p>
        </p:txBody>
      </p:sp>
      <p:pic>
        <p:nvPicPr>
          <p:cNvPr id="7" name="Picture 2" descr="D:\KBM-정애\014-Fullppt\PNG이미지\paper-bulb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20" y="3332174"/>
            <a:ext cx="1087451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/>
          <p:cNvCxnSpPr/>
          <p:nvPr userDrawn="1"/>
        </p:nvCxnSpPr>
        <p:spPr>
          <a:xfrm>
            <a:off x="0" y="195486"/>
            <a:ext cx="9143999" cy="0"/>
          </a:xfrm>
          <a:prstGeom prst="straightConnector1">
            <a:avLst/>
          </a:prstGeom>
          <a:ln w="127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72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35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137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70" r:id="rId4"/>
    <p:sldLayoutId id="2147483674" r:id="rId5"/>
    <p:sldLayoutId id="2147483673" r:id="rId6"/>
    <p:sldLayoutId id="2147483672" r:id="rId7"/>
    <p:sldLayoutId id="2147483675" r:id="rId8"/>
    <p:sldLayoutId id="2147483677" r:id="rId9"/>
    <p:sldLayoutId id="2147483676" r:id="rId10"/>
    <p:sldLayoutId id="2147483682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78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840" y="2355726"/>
            <a:ext cx="5472608" cy="399981"/>
          </a:xfrm>
        </p:spPr>
        <p:txBody>
          <a:bodyPr/>
          <a:lstStyle/>
          <a:p>
            <a:r>
              <a:rPr lang="en-US" altLang="ko-KR" sz="3200" dirty="0" smtClean="0">
                <a:ea typeface="맑은 고딕" pitchFamily="50" charset="-127"/>
              </a:rPr>
              <a:t>Modern &amp; Personal Communication Solution</a:t>
            </a:r>
            <a:endParaRPr lang="ko-KR" altLang="en-US" sz="3200" dirty="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10" y="195486"/>
            <a:ext cx="3240360" cy="926743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2987824" y="3147814"/>
            <a:ext cx="6048672" cy="50405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 smtClean="0"/>
              <a:t>      No message left behind </a:t>
            </a:r>
            <a:endParaRPr lang="de-CH" b="1" i="1" dirty="0"/>
          </a:p>
        </p:txBody>
      </p:sp>
    </p:spTree>
    <p:extLst>
      <p:ext uri="{BB962C8B-B14F-4D97-AF65-F5344CB8AC3E}">
        <p14:creationId xmlns:p14="http://schemas.microsoft.com/office/powerpoint/2010/main" val="123136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4449688" y="2443031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Oval 17"/>
          <p:cNvSpPr/>
          <p:nvPr/>
        </p:nvSpPr>
        <p:spPr>
          <a:xfrm>
            <a:off x="5878996" y="2443031"/>
            <a:ext cx="914400" cy="9144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Oval 18"/>
          <p:cNvSpPr/>
          <p:nvPr/>
        </p:nvSpPr>
        <p:spPr>
          <a:xfrm>
            <a:off x="7308552" y="2438009"/>
            <a:ext cx="914400" cy="914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4174232" y="3646049"/>
            <a:ext cx="1465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Spitex</a:t>
            </a:r>
            <a:r>
              <a:rPr lang="en-US" altLang="ko-KR" sz="12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 personnel </a:t>
            </a:r>
            <a:endParaRPr lang="ko-KR" altLang="en-US" sz="1200" b="1" dirty="0">
              <a:solidFill>
                <a:schemeClr val="accent3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70122" y="3646049"/>
            <a:ext cx="1332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Family Doctors</a:t>
            </a:r>
            <a:endParaRPr lang="ko-KR" altLang="en-US" sz="1200" b="1" dirty="0">
              <a:solidFill>
                <a:schemeClr val="accent3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189440" y="3646049"/>
            <a:ext cx="1415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Admininstration</a:t>
            </a:r>
            <a:endParaRPr lang="ko-KR" altLang="en-US" sz="1200" b="1" dirty="0">
              <a:solidFill>
                <a:schemeClr val="accent3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4" name="Bildplatzhalter 3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9" b="6599"/>
          <a:stretch>
            <a:fillRect/>
          </a:stretch>
        </p:blipFill>
        <p:spPr/>
      </p:pic>
      <p:sp>
        <p:nvSpPr>
          <p:cNvPr id="29" name="Block Arc 20">
            <a:extLst>
              <a:ext uri="{FF2B5EF4-FFF2-40B4-BE49-F238E27FC236}">
                <a16:creationId xmlns:a16="http://schemas.microsoft.com/office/drawing/2014/main" id="{8CDE9899-35C5-4EE2-817E-8D3213647FB0}"/>
              </a:ext>
            </a:extLst>
          </p:cNvPr>
          <p:cNvSpPr>
            <a:spLocks noChangeAspect="1"/>
          </p:cNvSpPr>
          <p:nvPr/>
        </p:nvSpPr>
        <p:spPr>
          <a:xfrm rot="10800000">
            <a:off x="6170191" y="2720231"/>
            <a:ext cx="332010" cy="360000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Round Same Side Corner Rectangle 8">
            <a:extLst>
              <a:ext uri="{FF2B5EF4-FFF2-40B4-BE49-F238E27FC236}">
                <a16:creationId xmlns:a16="http://schemas.microsoft.com/office/drawing/2014/main" id="{F8E284A6-DD7B-4286-9878-9131735222BC}"/>
              </a:ext>
            </a:extLst>
          </p:cNvPr>
          <p:cNvSpPr/>
          <p:nvPr/>
        </p:nvSpPr>
        <p:spPr>
          <a:xfrm>
            <a:off x="4729392" y="2720231"/>
            <a:ext cx="354992" cy="355536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Block Arc 25">
            <a:extLst>
              <a:ext uri="{FF2B5EF4-FFF2-40B4-BE49-F238E27FC236}">
                <a16:creationId xmlns:a16="http://schemas.microsoft.com/office/drawing/2014/main" id="{9ABD3111-3E60-4179-82C5-F12FCB2BF358}"/>
              </a:ext>
            </a:extLst>
          </p:cNvPr>
          <p:cNvSpPr/>
          <p:nvPr/>
        </p:nvSpPr>
        <p:spPr>
          <a:xfrm>
            <a:off x="7637758" y="2717948"/>
            <a:ext cx="245394" cy="354521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00999" y="123478"/>
            <a:ext cx="5825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altLang="ko-KR" sz="3200" b="1" dirty="0" err="1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Role</a:t>
            </a:r>
            <a:r>
              <a:rPr lang="de-CH" altLang="ko-KR" sz="3200" b="1" dirty="0" err="1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-Based</a:t>
            </a:r>
            <a:r>
              <a:rPr lang="de-CH" altLang="ko-KR" sz="32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 </a:t>
            </a:r>
            <a:r>
              <a:rPr lang="de-CH" altLang="ko-KR" sz="3200" b="1" dirty="0" err="1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A</a:t>
            </a:r>
            <a:r>
              <a:rPr lang="de-CH" altLang="ko-KR" sz="3200" b="1" dirty="0" err="1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uthentification</a:t>
            </a:r>
            <a:r>
              <a:rPr lang="de-CH" altLang="ko-KR" sz="3200" b="1" dirty="0" smtClean="0">
                <a:solidFill>
                  <a:schemeClr val="accent3">
                    <a:lumMod val="75000"/>
                  </a:schemeClr>
                </a:solidFill>
                <a:cs typeface="Arial" pitchFamily="34" charset="0"/>
              </a:rPr>
              <a:t> </a:t>
            </a:r>
            <a:endParaRPr lang="ko-KR" altLang="en-US" sz="3200" b="1" dirty="0">
              <a:solidFill>
                <a:schemeClr val="accent3">
                  <a:lumMod val="7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44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/>
          <p:cNvSpPr txBox="1"/>
          <p:nvPr/>
        </p:nvSpPr>
        <p:spPr>
          <a:xfrm>
            <a:off x="251520" y="193097"/>
            <a:ext cx="28599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4000" b="1" dirty="0" smtClean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Easy Patient </a:t>
            </a:r>
            <a:r>
              <a:rPr lang="en-US" altLang="ko-KR" sz="40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altLang="ko-KR" sz="4000" b="1" dirty="0" smtClean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verview</a:t>
            </a:r>
            <a:endParaRPr lang="ko-KR" altLang="en-US" sz="4000" b="1" dirty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3370292" y="529113"/>
            <a:ext cx="538036" cy="538036"/>
            <a:chOff x="4298598" y="1406129"/>
            <a:chExt cx="538036" cy="538036"/>
          </a:xfrm>
        </p:grpSpPr>
        <p:sp>
          <p:nvSpPr>
            <p:cNvPr id="63" name="Oval 62"/>
            <p:cNvSpPr/>
            <p:nvPr/>
          </p:nvSpPr>
          <p:spPr>
            <a:xfrm>
              <a:off x="4298598" y="1406129"/>
              <a:ext cx="538036" cy="538036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387596" y="1490481"/>
              <a:ext cx="36004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latin typeface="Arial" pitchFamily="34" charset="0"/>
                  <a:cs typeface="Arial" pitchFamily="34" charset="0"/>
                </a:rPr>
                <a:t>1</a:t>
              </a:r>
              <a:endParaRPr lang="ko-KR" alt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370292" y="1438090"/>
            <a:ext cx="538036" cy="538036"/>
            <a:chOff x="4298598" y="2241725"/>
            <a:chExt cx="538036" cy="538036"/>
          </a:xfrm>
        </p:grpSpPr>
        <p:sp>
          <p:nvSpPr>
            <p:cNvPr id="71" name="Oval 70"/>
            <p:cNvSpPr/>
            <p:nvPr/>
          </p:nvSpPr>
          <p:spPr>
            <a:xfrm>
              <a:off x="4298598" y="2241725"/>
              <a:ext cx="538036" cy="538036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387596" y="2326077"/>
              <a:ext cx="36004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latin typeface="Arial" pitchFamily="34" charset="0"/>
                  <a:cs typeface="Arial" pitchFamily="34" charset="0"/>
                </a:rPr>
                <a:t>2</a:t>
              </a:r>
              <a:endParaRPr lang="ko-KR" alt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3370292" y="2347067"/>
            <a:ext cx="538036" cy="538036"/>
            <a:chOff x="4298598" y="3049560"/>
            <a:chExt cx="538036" cy="538036"/>
          </a:xfrm>
        </p:grpSpPr>
        <p:sp>
          <p:nvSpPr>
            <p:cNvPr id="72" name="Oval 71"/>
            <p:cNvSpPr/>
            <p:nvPr/>
          </p:nvSpPr>
          <p:spPr>
            <a:xfrm>
              <a:off x="4298598" y="3049560"/>
              <a:ext cx="538036" cy="538036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387596" y="3133912"/>
              <a:ext cx="36004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latin typeface="Arial" pitchFamily="34" charset="0"/>
                  <a:cs typeface="Arial" pitchFamily="34" charset="0"/>
                </a:rPr>
                <a:t>3</a:t>
              </a:r>
              <a:endParaRPr lang="ko-KR" alt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3370292" y="3256044"/>
            <a:ext cx="538036" cy="538036"/>
            <a:chOff x="4298598" y="3857396"/>
            <a:chExt cx="538036" cy="538036"/>
          </a:xfrm>
        </p:grpSpPr>
        <p:sp>
          <p:nvSpPr>
            <p:cNvPr id="73" name="Oval 72"/>
            <p:cNvSpPr/>
            <p:nvPr/>
          </p:nvSpPr>
          <p:spPr>
            <a:xfrm>
              <a:off x="4298598" y="3857396"/>
              <a:ext cx="538036" cy="538036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7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  <a:ln w="317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387596" y="3941748"/>
              <a:ext cx="360040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dirty="0">
                  <a:latin typeface="Arial" pitchFamily="34" charset="0"/>
                  <a:cs typeface="Arial" pitchFamily="34" charset="0"/>
                </a:rPr>
                <a:t>4</a:t>
              </a:r>
              <a:endParaRPr lang="ko-KR" alt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3995936" y="627534"/>
            <a:ext cx="34997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Name/Address</a:t>
            </a:r>
            <a:r>
              <a:rPr lang="en-US" altLang="ko-KR" sz="12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altLang="ko-KR" sz="1400" i="1" dirty="0" smtClean="0">
                <a:latin typeface="Arial" pitchFamily="34" charset="0"/>
                <a:cs typeface="Arial" pitchFamily="34" charset="0"/>
              </a:rPr>
              <a:t>displayed for quick access </a:t>
            </a:r>
            <a:endParaRPr lang="ko-KR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995936" y="1552560"/>
            <a:ext cx="34997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Current patient conditions</a:t>
            </a:r>
          </a:p>
          <a:p>
            <a:r>
              <a:rPr lang="en-US" altLang="ko-KR" sz="1400" i="1" dirty="0" smtClean="0">
                <a:latin typeface="Arial" pitchFamily="34" charset="0"/>
                <a:cs typeface="Arial" pitchFamily="34" charset="0"/>
              </a:rPr>
              <a:t>Individualized approach</a:t>
            </a:r>
            <a:endParaRPr lang="ko-KR" altLang="en-US" sz="140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995936" y="2431419"/>
            <a:ext cx="42709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0A9DA3"/>
                </a:solidFill>
                <a:latin typeface="Arial" pitchFamily="34" charset="0"/>
                <a:cs typeface="Arial" pitchFamily="34" charset="0"/>
              </a:rPr>
              <a:t>Only </a:t>
            </a:r>
            <a:r>
              <a:rPr lang="en-US" altLang="ko-KR" sz="1600" b="1" dirty="0">
                <a:solidFill>
                  <a:srgbClr val="0A9DA3"/>
                </a:solidFill>
                <a:latin typeface="Arial" pitchFamily="34" charset="0"/>
                <a:cs typeface="Arial" pitchFamily="34" charset="0"/>
              </a:rPr>
              <a:t>staff/doctors assigned to the </a:t>
            </a:r>
            <a:r>
              <a:rPr lang="en-US" altLang="ko-KR" sz="1600" b="1" dirty="0" smtClean="0">
                <a:solidFill>
                  <a:srgbClr val="0A9DA3"/>
                </a:solidFill>
                <a:latin typeface="Arial" pitchFamily="34" charset="0"/>
                <a:cs typeface="Arial" pitchFamily="34" charset="0"/>
              </a:rPr>
              <a:t>patient</a:t>
            </a:r>
          </a:p>
          <a:p>
            <a:r>
              <a:rPr lang="en-US" altLang="ko-KR" sz="1400" i="1" dirty="0" smtClean="0">
                <a:latin typeface="Arial" pitchFamily="34" charset="0"/>
                <a:cs typeface="Arial" pitchFamily="34" charset="0"/>
              </a:rPr>
              <a:t>Protecting the Patient’s privacy</a:t>
            </a:r>
            <a:endParaRPr lang="ko-KR" altLang="en-US" sz="1400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995936" y="3250419"/>
            <a:ext cx="34068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0A9DA3"/>
                </a:solidFill>
                <a:latin typeface="Arial" pitchFamily="34" charset="0"/>
                <a:cs typeface="Arial" pitchFamily="34" charset="0"/>
              </a:rPr>
              <a:t>Visible </a:t>
            </a:r>
            <a:r>
              <a:rPr lang="en-US" altLang="ko-KR" sz="1600" b="1" dirty="0">
                <a:solidFill>
                  <a:srgbClr val="0A9DA3"/>
                </a:solidFill>
                <a:latin typeface="Arial" pitchFamily="34" charset="0"/>
                <a:cs typeface="Arial" pitchFamily="34" charset="0"/>
              </a:rPr>
              <a:t>and </a:t>
            </a:r>
            <a:r>
              <a:rPr lang="en-US" altLang="ko-KR" sz="1600" b="1" dirty="0" smtClean="0">
                <a:solidFill>
                  <a:srgbClr val="0A9DA3"/>
                </a:solidFill>
                <a:latin typeface="Arial" pitchFamily="34" charset="0"/>
                <a:cs typeface="Arial" pitchFamily="34" charset="0"/>
              </a:rPr>
              <a:t>managed request </a:t>
            </a:r>
          </a:p>
          <a:p>
            <a:r>
              <a:rPr lang="en-US" altLang="ko-KR" sz="1600" b="1" dirty="0" smtClean="0">
                <a:solidFill>
                  <a:srgbClr val="0A9DA3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600" b="1" dirty="0">
                <a:solidFill>
                  <a:srgbClr val="0A9DA3"/>
                </a:solidFill>
                <a:latin typeface="Arial" pitchFamily="34" charset="0"/>
                <a:cs typeface="Arial" pitchFamily="34" charset="0"/>
              </a:rPr>
              <a:t>from </a:t>
            </a:r>
            <a:r>
              <a:rPr lang="en-US" altLang="ko-KR" sz="1600" b="1" dirty="0" smtClean="0">
                <a:solidFill>
                  <a:srgbClr val="0A9DA3"/>
                </a:solidFill>
                <a:latin typeface="Arial" pitchFamily="34" charset="0"/>
                <a:cs typeface="Arial" pitchFamily="34" charset="0"/>
              </a:rPr>
              <a:t>Doctors/Nurses</a:t>
            </a:r>
          </a:p>
          <a:p>
            <a:r>
              <a:rPr lang="en-US" altLang="ko-KR" sz="1400" i="1" dirty="0" smtClean="0">
                <a:latin typeface="Arial" pitchFamily="34" charset="0"/>
                <a:cs typeface="Arial" pitchFamily="34" charset="0"/>
              </a:rPr>
              <a:t>From and to each Doctor and Care Giver</a:t>
            </a:r>
          </a:p>
          <a:p>
            <a:endParaRPr lang="en-US" altLang="ko-KR" sz="1400" i="1" dirty="0" smtClean="0">
              <a:latin typeface="Arial" pitchFamily="34" charset="0"/>
              <a:cs typeface="Arial" pitchFamily="34" charset="0"/>
            </a:endParaRPr>
          </a:p>
          <a:p>
            <a:endParaRPr lang="ko-KR" altLang="en-US" sz="1600" b="1" dirty="0">
              <a:solidFill>
                <a:srgbClr val="0A9DA3"/>
              </a:solidFill>
              <a:latin typeface="Arial" pitchFamily="34" charset="0"/>
              <a:cs typeface="Arial" pitchFamily="34" charset="0"/>
            </a:endParaRPr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27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erader Verbinder 35"/>
          <p:cNvCxnSpPr>
            <a:stCxn id="21" idx="2"/>
            <a:endCxn id="12" idx="4"/>
          </p:cNvCxnSpPr>
          <p:nvPr/>
        </p:nvCxnSpPr>
        <p:spPr>
          <a:xfrm>
            <a:off x="2759526" y="2062610"/>
            <a:ext cx="7984" cy="56751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smtClean="0">
                <a:solidFill>
                  <a:schemeClr val="accent1"/>
                </a:solidFill>
              </a:rPr>
              <a:t>E-Mail Converting</a:t>
            </a:r>
            <a:endParaRPr lang="ko-KR" altLang="en-US" dirty="0"/>
          </a:p>
        </p:txBody>
      </p:sp>
      <p:cxnSp>
        <p:nvCxnSpPr>
          <p:cNvPr id="3" name="Straight Connector 2"/>
          <p:cNvCxnSpPr>
            <a:stCxn id="9" idx="6"/>
          </p:cNvCxnSpPr>
          <p:nvPr/>
        </p:nvCxnSpPr>
        <p:spPr>
          <a:xfrm>
            <a:off x="1430115" y="2569274"/>
            <a:ext cx="5984077" cy="8296"/>
          </a:xfrm>
          <a:prstGeom prst="line">
            <a:avLst/>
          </a:prstGeom>
          <a:ln w="25400">
            <a:solidFill>
              <a:schemeClr val="accent1">
                <a:lumMod val="40000"/>
                <a:lumOff val="60000"/>
              </a:schemeClr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214091" y="2425258"/>
            <a:ext cx="288032" cy="288032"/>
            <a:chOff x="611560" y="2851238"/>
            <a:chExt cx="288032" cy="288032"/>
          </a:xfrm>
          <a:solidFill>
            <a:srgbClr val="0DD2D9"/>
          </a:solidFill>
        </p:grpSpPr>
        <p:sp>
          <p:nvSpPr>
            <p:cNvPr id="8" name="Oval 7"/>
            <p:cNvSpPr/>
            <p:nvPr/>
          </p:nvSpPr>
          <p:spPr>
            <a:xfrm>
              <a:off x="611560" y="2851238"/>
              <a:ext cx="288032" cy="2880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83568" y="2923246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623494" y="2414105"/>
            <a:ext cx="288032" cy="288032"/>
            <a:chOff x="611560" y="2851238"/>
            <a:chExt cx="288032" cy="288032"/>
          </a:xfrm>
          <a:solidFill>
            <a:srgbClr val="0DD2D9"/>
          </a:solidFill>
        </p:grpSpPr>
        <p:sp>
          <p:nvSpPr>
            <p:cNvPr id="11" name="Oval 10"/>
            <p:cNvSpPr/>
            <p:nvPr/>
          </p:nvSpPr>
          <p:spPr>
            <a:xfrm>
              <a:off x="611560" y="2851238"/>
              <a:ext cx="288032" cy="2880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83568" y="2923246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032897" y="2414105"/>
            <a:ext cx="288032" cy="288032"/>
            <a:chOff x="611560" y="2851238"/>
            <a:chExt cx="288032" cy="288032"/>
          </a:xfrm>
          <a:solidFill>
            <a:srgbClr val="0DD2D9"/>
          </a:solidFill>
        </p:grpSpPr>
        <p:sp>
          <p:nvSpPr>
            <p:cNvPr id="14" name="Oval 13"/>
            <p:cNvSpPr/>
            <p:nvPr/>
          </p:nvSpPr>
          <p:spPr>
            <a:xfrm>
              <a:off x="611560" y="2851238"/>
              <a:ext cx="288032" cy="2880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683568" y="2923246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442300" y="2414105"/>
            <a:ext cx="288032" cy="288032"/>
            <a:chOff x="611560" y="2851238"/>
            <a:chExt cx="288032" cy="288032"/>
          </a:xfrm>
          <a:solidFill>
            <a:srgbClr val="0DD2D9"/>
          </a:solidFill>
        </p:grpSpPr>
        <p:sp>
          <p:nvSpPr>
            <p:cNvPr id="17" name="Oval 16"/>
            <p:cNvSpPr/>
            <p:nvPr/>
          </p:nvSpPr>
          <p:spPr>
            <a:xfrm>
              <a:off x="611560" y="2851238"/>
              <a:ext cx="288032" cy="28803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683568" y="2923246"/>
              <a:ext cx="144016" cy="1440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 Placeholder 17"/>
          <p:cNvSpPr txBox="1">
            <a:spLocks/>
          </p:cNvSpPr>
          <p:nvPr/>
        </p:nvSpPr>
        <p:spPr>
          <a:xfrm>
            <a:off x="4558602" y="1688207"/>
            <a:ext cx="2055430" cy="501774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 smtClean="0">
                <a:solidFill>
                  <a:schemeClr val="bg1">
                    <a:lumMod val="65000"/>
                  </a:schemeClr>
                </a:solidFill>
                <a:cs typeface="Arial" pitchFamily="34" charset="0"/>
              </a:rPr>
              <a:t>Nurse sees message and attached files</a:t>
            </a:r>
            <a:endParaRPr lang="en-US" sz="1400" b="1" dirty="0">
              <a:solidFill>
                <a:schemeClr val="bg1">
                  <a:lumMod val="65000"/>
                </a:schemeClr>
              </a:solidFill>
              <a:cs typeface="Arial" pitchFamily="34" charset="0"/>
            </a:endParaRPr>
          </a:p>
        </p:txBody>
      </p:sp>
      <p:sp>
        <p:nvSpPr>
          <p:cNvPr id="20" name="Text Placeholder 17"/>
          <p:cNvSpPr txBox="1">
            <a:spLocks/>
          </p:cNvSpPr>
          <p:nvPr/>
        </p:nvSpPr>
        <p:spPr>
          <a:xfrm>
            <a:off x="3660135" y="2976464"/>
            <a:ext cx="1033555" cy="998869"/>
          </a:xfrm>
          <a:prstGeom prst="rect">
            <a:avLst/>
          </a:prstGeom>
          <a:ln w="25400">
            <a:solidFill>
              <a:schemeClr val="accent3"/>
            </a:solidFill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 smtClean="0">
                <a:solidFill>
                  <a:schemeClr val="bg1">
                    <a:lumMod val="65000"/>
                  </a:schemeClr>
                </a:solidFill>
                <a:cs typeface="Arial" pitchFamily="34" charset="0"/>
              </a:rPr>
              <a:t>Converts &amp; Sends as a chat message</a:t>
            </a:r>
            <a:endParaRPr lang="en-US" sz="1400" b="1" dirty="0">
              <a:solidFill>
                <a:schemeClr val="bg1">
                  <a:lumMod val="65000"/>
                </a:schemeClr>
              </a:solidFill>
              <a:cs typeface="Arial" pitchFamily="34" charset="0"/>
            </a:endParaRPr>
          </a:p>
        </p:txBody>
      </p:sp>
      <p:sp>
        <p:nvSpPr>
          <p:cNvPr id="21" name="Text Placeholder 17"/>
          <p:cNvSpPr txBox="1">
            <a:spLocks/>
          </p:cNvSpPr>
          <p:nvPr/>
        </p:nvSpPr>
        <p:spPr>
          <a:xfrm>
            <a:off x="2267744" y="1563638"/>
            <a:ext cx="983563" cy="498972"/>
          </a:xfrm>
          <a:prstGeom prst="rect">
            <a:avLst/>
          </a:prstGeom>
          <a:ln w="25400">
            <a:solidFill>
              <a:schemeClr val="accent4"/>
            </a:solidFill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 smtClean="0">
                <a:solidFill>
                  <a:schemeClr val="bg1">
                    <a:lumMod val="65000"/>
                  </a:schemeClr>
                </a:solidFill>
                <a:cs typeface="Arial" pitchFamily="34" charset="0"/>
              </a:rPr>
              <a:t>Letter is received</a:t>
            </a:r>
            <a:endParaRPr lang="en-US" sz="1400" b="1" dirty="0">
              <a:solidFill>
                <a:schemeClr val="bg1">
                  <a:lumMod val="65000"/>
                </a:schemeClr>
              </a:solidFill>
              <a:cs typeface="Arial" pitchFamily="34" charset="0"/>
            </a:endParaRPr>
          </a:p>
        </p:txBody>
      </p:sp>
      <p:sp>
        <p:nvSpPr>
          <p:cNvPr id="22" name="Text Placeholder 17"/>
          <p:cNvSpPr txBox="1">
            <a:spLocks/>
          </p:cNvSpPr>
          <p:nvPr/>
        </p:nvSpPr>
        <p:spPr>
          <a:xfrm>
            <a:off x="839348" y="2863940"/>
            <a:ext cx="1037517" cy="474250"/>
          </a:xfrm>
          <a:prstGeom prst="rect">
            <a:avLst/>
          </a:prstGeom>
          <a:ln w="25400">
            <a:solidFill>
              <a:schemeClr val="accent5"/>
            </a:solidFill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 smtClean="0">
                <a:solidFill>
                  <a:schemeClr val="bg1">
                    <a:lumMod val="65000"/>
                  </a:schemeClr>
                </a:solidFill>
                <a:cs typeface="Arial" pitchFamily="34" charset="0"/>
              </a:rPr>
              <a:t>Dr. sends E-Mail </a:t>
            </a:r>
            <a:endParaRPr lang="en-US" sz="1400" b="1" dirty="0">
              <a:solidFill>
                <a:schemeClr val="bg1">
                  <a:lumMod val="6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Text Placeholder 17"/>
          <p:cNvSpPr txBox="1">
            <a:spLocks/>
          </p:cNvSpPr>
          <p:nvPr/>
        </p:nvSpPr>
        <p:spPr>
          <a:xfrm>
            <a:off x="6851703" y="2257688"/>
            <a:ext cx="1825016" cy="639764"/>
          </a:xfrm>
          <a:prstGeom prst="roundRect">
            <a:avLst/>
          </a:prstGeom>
          <a:solidFill>
            <a:srgbClr val="65C2C5"/>
          </a:solidFill>
          <a:ln w="25400">
            <a:solidFill>
              <a:schemeClr val="accent1"/>
            </a:solidFill>
          </a:ln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 smtClean="0">
                <a:solidFill>
                  <a:schemeClr val="bg1"/>
                </a:solidFill>
                <a:cs typeface="Arial" pitchFamily="34" charset="0"/>
              </a:rPr>
              <a:t>Workflow </a:t>
            </a:r>
          </a:p>
          <a:p>
            <a:pPr marL="0" indent="0" algn="ctr">
              <a:buNone/>
            </a:pPr>
            <a:r>
              <a:rPr lang="en-US" sz="1600" b="1" dirty="0" smtClean="0">
                <a:solidFill>
                  <a:schemeClr val="bg1"/>
                </a:solidFill>
                <a:cs typeface="Arial" pitchFamily="34" charset="0"/>
              </a:rPr>
              <a:t>Simplified</a:t>
            </a:r>
            <a:endParaRPr 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31" name="Gerader Verbinder 30"/>
          <p:cNvCxnSpPr>
            <a:stCxn id="22" idx="0"/>
            <a:endCxn id="9" idx="4"/>
          </p:cNvCxnSpPr>
          <p:nvPr/>
        </p:nvCxnSpPr>
        <p:spPr>
          <a:xfrm flipV="1">
            <a:off x="1358107" y="2641282"/>
            <a:ext cx="0" cy="22265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5" name="Gerader Verbinder 44"/>
          <p:cNvCxnSpPr>
            <a:stCxn id="15" idx="4"/>
            <a:endCxn id="20" idx="0"/>
          </p:cNvCxnSpPr>
          <p:nvPr/>
        </p:nvCxnSpPr>
        <p:spPr>
          <a:xfrm>
            <a:off x="4176913" y="2630129"/>
            <a:ext cx="0" cy="34633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Gerader Verbinder 50"/>
          <p:cNvCxnSpPr>
            <a:stCxn id="19" idx="2"/>
            <a:endCxn id="18" idx="0"/>
          </p:cNvCxnSpPr>
          <p:nvPr/>
        </p:nvCxnSpPr>
        <p:spPr>
          <a:xfrm flipH="1">
            <a:off x="5586316" y="2189981"/>
            <a:ext cx="1" cy="29613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79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Chat</a:t>
            </a:r>
            <a:r>
              <a:rPr lang="en-US" altLang="ko-KR" dirty="0" smtClean="0"/>
              <a:t> </a:t>
            </a:r>
            <a:r>
              <a:rPr lang="en-US" altLang="ko-KR" dirty="0" smtClean="0">
                <a:solidFill>
                  <a:srgbClr val="0A9DA3"/>
                </a:solidFill>
              </a:rPr>
              <a:t>Features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94425" y="1275558"/>
            <a:ext cx="609223" cy="609223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val 8"/>
          <p:cNvSpPr/>
          <p:nvPr/>
        </p:nvSpPr>
        <p:spPr>
          <a:xfrm>
            <a:off x="794425" y="2217798"/>
            <a:ext cx="609223" cy="609223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/>
          <p:cNvSpPr/>
          <p:nvPr/>
        </p:nvSpPr>
        <p:spPr>
          <a:xfrm>
            <a:off x="4866578" y="3193441"/>
            <a:ext cx="609223" cy="609223"/>
          </a:xfrm>
          <a:prstGeom prst="ellipse">
            <a:avLst/>
          </a:prstGeom>
          <a:solidFill>
            <a:schemeClr val="accent3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/>
          <p:cNvSpPr/>
          <p:nvPr/>
        </p:nvSpPr>
        <p:spPr>
          <a:xfrm>
            <a:off x="794425" y="3193440"/>
            <a:ext cx="609223" cy="609223"/>
          </a:xfrm>
          <a:prstGeom prst="ellipse">
            <a:avLst/>
          </a:prstGeom>
          <a:solidFill>
            <a:schemeClr val="accent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Oval 15"/>
          <p:cNvSpPr/>
          <p:nvPr/>
        </p:nvSpPr>
        <p:spPr>
          <a:xfrm>
            <a:off x="4864933" y="1275558"/>
            <a:ext cx="609223" cy="609223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Oval 16"/>
          <p:cNvSpPr/>
          <p:nvPr/>
        </p:nvSpPr>
        <p:spPr>
          <a:xfrm>
            <a:off x="4864933" y="2217798"/>
            <a:ext cx="609223" cy="609223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1" name="Group 40"/>
          <p:cNvGrpSpPr/>
          <p:nvPr/>
        </p:nvGrpSpPr>
        <p:grpSpPr>
          <a:xfrm>
            <a:off x="1558022" y="1220114"/>
            <a:ext cx="2830257" cy="720109"/>
            <a:chOff x="1472558" y="998559"/>
            <a:chExt cx="2765965" cy="720109"/>
          </a:xfrm>
        </p:grpSpPr>
        <p:sp>
          <p:nvSpPr>
            <p:cNvPr id="28" name="TextBox 27"/>
            <p:cNvSpPr txBox="1"/>
            <p:nvPr/>
          </p:nvSpPr>
          <p:spPr>
            <a:xfrm>
              <a:off x="1472558" y="1257003"/>
              <a:ext cx="24529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Private chat for Care Givers with each Patient/Doctor combination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 Information Channels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558022" y="2162354"/>
            <a:ext cx="2830257" cy="720109"/>
            <a:chOff x="1472558" y="998559"/>
            <a:chExt cx="2765965" cy="720109"/>
          </a:xfrm>
        </p:grpSpPr>
        <p:sp>
          <p:nvSpPr>
            <p:cNvPr id="55" name="TextBox 54"/>
            <p:cNvSpPr txBox="1"/>
            <p:nvPr/>
          </p:nvSpPr>
          <p:spPr>
            <a:xfrm>
              <a:off x="1472558" y="1257003"/>
              <a:ext cx="27659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Files can be easily attached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and sent in chat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Easy 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F</a:t>
              </a:r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ile Sharing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5630175" y="3137997"/>
            <a:ext cx="2830257" cy="720109"/>
            <a:chOff x="1472558" y="998559"/>
            <a:chExt cx="2765965" cy="720109"/>
          </a:xfrm>
        </p:grpSpPr>
        <p:sp>
          <p:nvSpPr>
            <p:cNvPr id="58" name="TextBox 57"/>
            <p:cNvSpPr txBox="1"/>
            <p:nvPr/>
          </p:nvSpPr>
          <p:spPr>
            <a:xfrm>
              <a:off x="1472558" y="1257003"/>
              <a:ext cx="27659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All sent files in chat are accessible in personalized for each client storage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Individual Central Data Storage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558022" y="3137997"/>
            <a:ext cx="2830257" cy="720109"/>
            <a:chOff x="1472558" y="998559"/>
            <a:chExt cx="2765965" cy="720109"/>
          </a:xfrm>
        </p:grpSpPr>
        <p:sp>
          <p:nvSpPr>
            <p:cNvPr id="61" name="TextBox 60"/>
            <p:cNvSpPr txBox="1"/>
            <p:nvPr/>
          </p:nvSpPr>
          <p:spPr>
            <a:xfrm>
              <a:off x="1472558" y="1257003"/>
              <a:ext cx="27659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Every request can be marked as urgent or not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Importance Markers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630175" y="1220114"/>
            <a:ext cx="2830257" cy="720109"/>
            <a:chOff x="1472558" y="998559"/>
            <a:chExt cx="2765965" cy="720109"/>
          </a:xfrm>
        </p:grpSpPr>
        <p:sp>
          <p:nvSpPr>
            <p:cNvPr id="64" name="TextBox 63"/>
            <p:cNvSpPr txBox="1"/>
            <p:nvPr/>
          </p:nvSpPr>
          <p:spPr>
            <a:xfrm>
              <a:off x="1472558" y="1257003"/>
              <a:ext cx="27659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The request have a due date and completion status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To-Do Tracking System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5630175" y="2162354"/>
            <a:ext cx="2830257" cy="720109"/>
            <a:chOff x="1472558" y="998559"/>
            <a:chExt cx="2765965" cy="720109"/>
          </a:xfrm>
        </p:grpSpPr>
        <p:sp>
          <p:nvSpPr>
            <p:cNvPr id="67" name="TextBox 66"/>
            <p:cNvSpPr txBox="1"/>
            <p:nvPr/>
          </p:nvSpPr>
          <p:spPr>
            <a:xfrm>
              <a:off x="1472558" y="1257003"/>
              <a:ext cx="27659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Nurses can easily create .</a:t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xlsx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/.txt/.pdf</a:t>
              </a: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Files via template in chat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Templates For Files Creation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3" name="Rectangle 9">
            <a:extLst>
              <a:ext uri="{FF2B5EF4-FFF2-40B4-BE49-F238E27FC236}">
                <a16:creationId xmlns:a16="http://schemas.microsoft.com/office/drawing/2014/main" id="{B625B452-723D-4CF7-95BD-934E24FEB2F0}"/>
              </a:ext>
            </a:extLst>
          </p:cNvPr>
          <p:cNvSpPr/>
          <p:nvPr/>
        </p:nvSpPr>
        <p:spPr>
          <a:xfrm>
            <a:off x="4988522" y="2316028"/>
            <a:ext cx="360125" cy="33710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4" name="Rounded Rectangle 5">
            <a:extLst>
              <a:ext uri="{FF2B5EF4-FFF2-40B4-BE49-F238E27FC236}">
                <a16:creationId xmlns:a16="http://schemas.microsoft.com/office/drawing/2014/main" id="{DFAF31E9-E106-4059-B9CD-2B72E20F0133}"/>
              </a:ext>
            </a:extLst>
          </p:cNvPr>
          <p:cNvSpPr/>
          <p:nvPr/>
        </p:nvSpPr>
        <p:spPr>
          <a:xfrm flipH="1">
            <a:off x="939276" y="1438023"/>
            <a:ext cx="344621" cy="284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5" name="Rectangle 30">
            <a:extLst>
              <a:ext uri="{FF2B5EF4-FFF2-40B4-BE49-F238E27FC236}">
                <a16:creationId xmlns:a16="http://schemas.microsoft.com/office/drawing/2014/main" id="{3410FFFC-E9BF-441A-8F5C-2E8156BBAE96}"/>
              </a:ext>
            </a:extLst>
          </p:cNvPr>
          <p:cNvSpPr/>
          <p:nvPr/>
        </p:nvSpPr>
        <p:spPr>
          <a:xfrm>
            <a:off x="5010939" y="1422027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6" name="Block Arc 25">
            <a:extLst>
              <a:ext uri="{FF2B5EF4-FFF2-40B4-BE49-F238E27FC236}">
                <a16:creationId xmlns:a16="http://schemas.microsoft.com/office/drawing/2014/main" id="{9ABD3111-3E60-4179-82C5-F12FCB2BF358}"/>
              </a:ext>
            </a:extLst>
          </p:cNvPr>
          <p:cNvSpPr/>
          <p:nvPr/>
        </p:nvSpPr>
        <p:spPr>
          <a:xfrm>
            <a:off x="5046846" y="3320790"/>
            <a:ext cx="245394" cy="354521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Oval 35">
            <a:extLst>
              <a:ext uri="{FF2B5EF4-FFF2-40B4-BE49-F238E27FC236}">
                <a16:creationId xmlns:a16="http://schemas.microsoft.com/office/drawing/2014/main" id="{847A4433-3017-4B76-B01B-2FCC2E5FB8C1}"/>
              </a:ext>
            </a:extLst>
          </p:cNvPr>
          <p:cNvSpPr/>
          <p:nvPr/>
        </p:nvSpPr>
        <p:spPr>
          <a:xfrm>
            <a:off x="954233" y="3320790"/>
            <a:ext cx="289606" cy="365156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8" name="Isosceles Triangle 51">
            <a:extLst>
              <a:ext uri="{FF2B5EF4-FFF2-40B4-BE49-F238E27FC236}">
                <a16:creationId xmlns:a16="http://schemas.microsoft.com/office/drawing/2014/main" id="{6169C8DF-82FF-4D47-AEA0-1EEA7630C5E6}"/>
              </a:ext>
            </a:extLst>
          </p:cNvPr>
          <p:cNvSpPr/>
          <p:nvPr/>
        </p:nvSpPr>
        <p:spPr>
          <a:xfrm>
            <a:off x="918132" y="2391416"/>
            <a:ext cx="357265" cy="26198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42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DD2D9"/>
      </a:accent1>
      <a:accent2>
        <a:srgbClr val="0DD2D9"/>
      </a:accent2>
      <a:accent3>
        <a:srgbClr val="0DD2D9"/>
      </a:accent3>
      <a:accent4>
        <a:srgbClr val="0DD2D9"/>
      </a:accent4>
      <a:accent5>
        <a:srgbClr val="0DD2D9"/>
      </a:accent5>
      <a:accent6>
        <a:srgbClr val="0DD2D9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DD2D9"/>
      </a:accent1>
      <a:accent2>
        <a:srgbClr val="0DD2D9"/>
      </a:accent2>
      <a:accent3>
        <a:srgbClr val="0DD2D9"/>
      </a:accent3>
      <a:accent4>
        <a:srgbClr val="0DD2D9"/>
      </a:accent4>
      <a:accent5>
        <a:srgbClr val="0DD2D9"/>
      </a:accent5>
      <a:accent6>
        <a:srgbClr val="0DD2D9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DD2D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DD2D9"/>
      </a:accent1>
      <a:accent2>
        <a:srgbClr val="0DD2D9"/>
      </a:accent2>
      <a:accent3>
        <a:srgbClr val="0DD2D9"/>
      </a:accent3>
      <a:accent4>
        <a:srgbClr val="0DD2D9"/>
      </a:accent4>
      <a:accent5>
        <a:srgbClr val="0DD2D9"/>
      </a:accent5>
      <a:accent6>
        <a:srgbClr val="0DD2D9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DD2D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Bildschirmpräsentation (16:9)</PresentationFormat>
  <Paragraphs>42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맑은 고딕</vt:lpstr>
      <vt:lpstr>Arial</vt:lpstr>
      <vt:lpstr>Arial Unicode MS</vt:lpstr>
      <vt:lpstr>Cover and End Slide Master</vt:lpstr>
      <vt:lpstr>Contents Slide Master</vt:lpstr>
      <vt:lpstr>Section Break Slide Master</vt:lpstr>
      <vt:lpstr>Modern &amp; Personal Communication Solution</vt:lpstr>
      <vt:lpstr>PowerPoint-Präsentation</vt:lpstr>
      <vt:lpstr>PowerPoint-Präsentation</vt:lpstr>
      <vt:lpstr> E-Mail Converting</vt:lpstr>
      <vt:lpstr> Chat Features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TZH-053</cp:lastModifiedBy>
  <cp:revision>137</cp:revision>
  <dcterms:created xsi:type="dcterms:W3CDTF">2016-11-07T07:00:36Z</dcterms:created>
  <dcterms:modified xsi:type="dcterms:W3CDTF">2026-01-15T12:19:56Z</dcterms:modified>
</cp:coreProperties>
</file>